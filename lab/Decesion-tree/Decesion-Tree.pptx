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1" r:id="rId6"/>
    <p:sldId id="260" r:id="rId7"/>
    <p:sldId id="272" r:id="rId8"/>
    <p:sldId id="273" r:id="rId9"/>
    <p:sldId id="261" r:id="rId10"/>
    <p:sldId id="262" r:id="rId11"/>
    <p:sldId id="274" r:id="rId12"/>
    <p:sldId id="275" r:id="rId13"/>
    <p:sldId id="278" r:id="rId14"/>
    <p:sldId id="276" r:id="rId15"/>
    <p:sldId id="277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x="14630400" cy="8229600"/>
  <p:notesSz cx="8229600" cy="14630400"/>
  <p:embeddedFontLst>
    <p:embeddedFont>
      <p:font typeface="Inter" panose="02020500000000000000" charset="0"/>
      <p:regular r:id="rId26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2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466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224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决策树模型详解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78666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本演示将深入探讨决策树模型的基本概念、运作原理及应用挑战。我们将从模型定义开始，通过实例解析其工作机制，并探讨过度拟合等常见问题及解决方案。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14742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10" y="515504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130522"/>
            <a:ext cx="280975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投稿人：Kunta Hsieh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7988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决策树模型的类型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3194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0347" y="2351365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530906" y="23194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分类树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30906" y="282761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处理类别变量，预测离散结果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6724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0347" y="3704392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530906" y="36724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回归树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530906" y="418064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处理连续变量，预测数值结果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0255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0347" y="5057418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530906" y="50255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CART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530906" y="55336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同时包含分类与回归功能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37853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0347" y="6410444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530906" y="63785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卡方自动交互作用检测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1530906" y="688669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使用卡方统计量进行特征选择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474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决策树模型概念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监督式学习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60486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决策树属于监督式学习模型，需要标记好的训练数据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树状结构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32928" y="460486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由根节点、分支节点和叶节点组成，形成层级结构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决策流程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872067" y="460486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每个节点代表一个特征，每条边代表一个决策规则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2324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餐厅等待价值示例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107662"/>
            <a:ext cx="13042821" cy="1315879"/>
          </a:xfrm>
          <a:prstGeom prst="roundRect">
            <a:avLst>
              <a:gd name="adj" fmla="val 72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511528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525899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属性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45824" y="525899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576560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590931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顾客人数、价格高低、餐厅类型等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45824" y="590931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是否值得等待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6786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我们以Russell &amp; Norvig的餐厅例子为例。训练集包含12间餐厅的特征信息，每间餐厅都有"是否值得等待"的标签。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數字, 螢幕擷取畫面, 行 的圖片&#10;&#10;AI 產生的內容可能不正確。">
            <a:extLst>
              <a:ext uri="{FF2B5EF4-FFF2-40B4-BE49-F238E27FC236}">
                <a16:creationId xmlns:a16="http://schemas.microsoft.com/office/drawing/2014/main" id="{34DDED92-7789-EC89-18D1-5DD407B63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60" y="1695325"/>
            <a:ext cx="14180279" cy="4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3774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训练数据示例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3022163"/>
            <a:ext cx="3664863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2565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餐厅特征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14624" y="376475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包含顾客人数、价格高低、餐厅类型等多种特征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022163"/>
            <a:ext cx="3664863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2565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目标变量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06301" y="376475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每间餐厅标记是否值得等待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51809"/>
            <a:ext cx="7556421" cy="1339929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1862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数据规模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14624" y="569440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示例中包含12间餐厅的完整信息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寫生, 圖表, 方案, 工程製圖 的圖片&#10;&#10;AI 產生的內容可能不正確。">
            <a:extLst>
              <a:ext uri="{FF2B5EF4-FFF2-40B4-BE49-F238E27FC236}">
                <a16:creationId xmlns:a16="http://schemas.microsoft.com/office/drawing/2014/main" id="{FDD9015F-DE61-65B4-8D37-6E8B4CD6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35" y="1892186"/>
            <a:ext cx="9315929" cy="44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9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1E4322F6-0FBB-1807-187E-29D72F556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05" y="1819157"/>
            <a:ext cx="9512789" cy="459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3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683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决策树的构建过程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461260"/>
            <a:ext cx="170021" cy="871061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246126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特征选择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303973" y="296941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选择最佳特征作为节点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559135"/>
            <a:ext cx="170021" cy="871061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4134" y="35591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分裂数据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644134" y="406729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根据特征值将数据分成子集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4657011"/>
            <a:ext cx="170021" cy="871061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415" y="465701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递归构建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984415" y="516516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对每个子集重复上述过程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814513" y="5754886"/>
            <a:ext cx="170021" cy="871061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24695" y="57548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停止条件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2324695" y="6263045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当达到纯度或其他停止条件时终止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7633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决策树模型的运作原理</a:t>
            </a:r>
            <a:endParaRPr lang="en-US" sz="4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6075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8545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目标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793790" y="6362700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衡量特征减少Entropy的程度，选取信息增益大的特征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704" y="506075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8545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熵(Entropy)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5254704" y="6362700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不确定性的量度。Entropy=0为最稳定状态，Entropy=1为最混乱状态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738" y="506075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8545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信息增益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9715738" y="6362700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不同状态Entropy的差值，用于评估特征的重要性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9CD2E76F-B9AB-46F2-E08B-46022B34E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225" y="1476239"/>
            <a:ext cx="10693950" cy="527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2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7CC2E758-D28E-2DD0-9E83-BB6C59387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941" y="977739"/>
            <a:ext cx="11030517" cy="62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97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筆跡, 字型, 白板 的圖片&#10;&#10;AI 產生的內容可能不正確。">
            <a:extLst>
              <a:ext uri="{FF2B5EF4-FFF2-40B4-BE49-F238E27FC236}">
                <a16:creationId xmlns:a16="http://schemas.microsoft.com/office/drawing/2014/main" id="{A0C5A63C-F267-A2B3-43E6-023783778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039" y="3197178"/>
            <a:ext cx="7220321" cy="18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筆跡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0A8C7A17-2E29-8D51-9124-7CC2D6848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24" y="730076"/>
            <a:ext cx="11716352" cy="676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64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筆跡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8FAAF2BE-AF2F-F5B9-55A1-B4EAD581D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20" y="923761"/>
            <a:ext cx="11868760" cy="63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75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816" y="489347"/>
            <a:ext cx="4671774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信息增益计算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6" y="1429226"/>
            <a:ext cx="10501908" cy="588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816" y="7510343"/>
            <a:ext cx="1338476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信息增益计算公式：Gain(S, A) = H(S) - Σ(|Sv|/|S|) × H(Sv)。值越大，表示该特征对分类的贡献越大。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997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910" y="2683669"/>
            <a:ext cx="4619625" cy="577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过度拟合问题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10" y="3525083"/>
            <a:ext cx="879872" cy="10558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59744" y="3701058"/>
            <a:ext cx="23098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问题定义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759744" y="4095274"/>
            <a:ext cx="12254746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模型过度适应训练数据，导致泛化能力差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10" y="4580930"/>
            <a:ext cx="879872" cy="10558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59744" y="4756904"/>
            <a:ext cx="23098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原因分析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759744" y="5151120"/>
            <a:ext cx="12254746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特征过多，决策树过于复杂，捕捉了数据中的噪声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10" y="5636776"/>
            <a:ext cx="879872" cy="10558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59744" y="5812750"/>
            <a:ext cx="23098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表现症状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759744" y="6206966"/>
            <a:ext cx="12254746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在训练集表现极佳，但在新数据上表现不佳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910" y="6692622"/>
            <a:ext cx="879872" cy="105584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59744" y="6868597"/>
            <a:ext cx="23098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解决方向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759744" y="7262813"/>
            <a:ext cx="12254746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需要通过特征选择和树修剪等方法来优化模型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5874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连续变量处理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1048941" y="2443163"/>
            <a:ext cx="30480" cy="4427696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5" name="Shape 2"/>
          <p:cNvSpPr/>
          <p:nvPr/>
        </p:nvSpPr>
        <p:spPr>
          <a:xfrm>
            <a:off x="1273612" y="293822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26983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0347" y="2730222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83011" y="2669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问题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2183011" y="3178135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单纯使用信息增益可能导致偏向多值特征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73612" y="448972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90" y="42498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0347" y="4281726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183011" y="422148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解决方案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2183011" y="4729639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引入惩罚项，避免模型过度拟合训练集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73612" y="604123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90" y="58013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0347" y="5833229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183011" y="57729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方法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2183011" y="6281142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使用增益率或基尼不纯度等改进指标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375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增益率(Gain Ratio)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81645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5118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增益率公式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6020038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通过引入分裂信息(SplitInfo)来惩罚多值特征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2681645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55119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优势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54704" y="6020157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克服信息增益偏向多值特征的缺点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2681645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55118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应用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715738" y="6020038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在C4.5算法中广泛应用，是ID3算法的改进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3368"/>
            <a:ext cx="71562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基尼不纯度(Gini Impurity)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715453" y="30519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定义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56008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分类器分错的概率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731" y="319432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30519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特点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937790" y="356008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值越小表示错误概率越小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2604" y="3582829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5044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应用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9937790" y="601265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CART算法中的特征选择标准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4103" y="580870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1715453" y="55044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计算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793790" y="601265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G(S) = Σ(|Si|/|S|)×(1-|Si|/|S|)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8230" y="542020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140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决策树修剪技术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1979295"/>
            <a:ext cx="1614011" cy="132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60699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88255" y="22061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后剪枝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088255" y="2714268"/>
            <a:ext cx="34005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先构建完整树，再移除不重要分支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B2D4E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424" y="3360658"/>
            <a:ext cx="3228022" cy="13246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382369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5895261" y="35874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预剪枝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5895261" y="4095631"/>
            <a:ext cx="31738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在构建过程中提前停止某些分支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725120" y="469844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B2D4E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418" y="4742021"/>
            <a:ext cx="4842034" cy="13246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892" y="520505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6702266" y="4968835"/>
            <a:ext cx="226706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成本复杂度剪枝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6702266" y="5476994"/>
            <a:ext cx="22670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平衡树大小与分类错误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6532126" y="6079808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B2D4E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94" y="6123384"/>
            <a:ext cx="6456164" cy="132468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94773" y="658641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500" dirty="0"/>
          </a:p>
        </p:txBody>
      </p:sp>
      <p:sp>
        <p:nvSpPr>
          <p:cNvPr id="20" name="Text 14"/>
          <p:cNvSpPr/>
          <p:nvPr/>
        </p:nvSpPr>
        <p:spPr>
          <a:xfrm>
            <a:off x="7509272" y="6350198"/>
            <a:ext cx="27204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错误率降低剪枝</a:t>
            </a:r>
            <a:endParaRPr lang="en-US" sz="2300" dirty="0"/>
          </a:p>
        </p:txBody>
      </p:sp>
      <p:sp>
        <p:nvSpPr>
          <p:cNvPr id="21" name="Text 15"/>
          <p:cNvSpPr/>
          <p:nvPr/>
        </p:nvSpPr>
        <p:spPr>
          <a:xfrm>
            <a:off x="7509272" y="6858357"/>
            <a:ext cx="27204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基于验证集错误率决定剪枝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644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数据集划分策略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304336"/>
            <a:ext cx="2173724" cy="1324689"/>
          </a:xfrm>
          <a:prstGeom prst="roundRect">
            <a:avLst>
              <a:gd name="adj" fmla="val 719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21167" y="27673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194328" y="2531150"/>
            <a:ext cx="204037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训练集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194328" y="3039308"/>
            <a:ext cx="20403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用于构建初始决策树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613785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B2D4E5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742373"/>
            <a:ext cx="4347567" cy="1324689"/>
          </a:xfrm>
          <a:prstGeom prst="roundRect">
            <a:avLst>
              <a:gd name="adj" fmla="val 719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8089" y="420540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68171" y="3969187"/>
            <a:ext cx="294715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修剪集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368171" y="4477345"/>
            <a:ext cx="29471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用于优化树结构，避免过拟合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051822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B2D4E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180409"/>
            <a:ext cx="6521410" cy="1324689"/>
          </a:xfrm>
          <a:prstGeom prst="roundRect">
            <a:avLst>
              <a:gd name="adj" fmla="val 719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011" y="564344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42014" y="5407223"/>
            <a:ext cx="181367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测试集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542014" y="5915382"/>
            <a:ext cx="18136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评估最终模型性能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7602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采用三部分数据集划分是处理过拟合的有效策略。先用训练集构建树，再用修剪集优化结构，最后用测试集评估性能。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897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决策树模型总结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662833"/>
            <a:ext cx="3120747" cy="312074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608" y="2662833"/>
            <a:ext cx="3120866" cy="312086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926" y="2662833"/>
            <a:ext cx="3120747" cy="312074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8124" y="2662833"/>
            <a:ext cx="3120866" cy="312086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3790" y="618482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决策树模型直观易懂，但需要谨慎处理过拟合问题。通过合理的特征选择方法和修剪技术，可以构建出既准确又具泛化能力的模型。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295</Words>
  <Application>Microsoft Office PowerPoint</Application>
  <PresentationFormat>自訂</PresentationFormat>
  <Paragraphs>134</Paragraphs>
  <Slides>23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Arial</vt:lpstr>
      <vt:lpstr>Petrona Bold</vt:lpstr>
      <vt:lpstr>Inter</vt:lpstr>
      <vt:lpstr>Inter Bold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Kunta Hsieh</cp:lastModifiedBy>
  <cp:revision>2</cp:revision>
  <dcterms:created xsi:type="dcterms:W3CDTF">2025-03-10T06:47:51Z</dcterms:created>
  <dcterms:modified xsi:type="dcterms:W3CDTF">2025-03-10T07:14:30Z</dcterms:modified>
</cp:coreProperties>
</file>