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Nunito Semi Bold"/>
      <p:regular r:id="rId14"/>
    </p:embeddedFont>
    <p:embeddedFont>
      <p:font typeface="Nunito Semi Bold"/>
      <p:regular r:id="rId15"/>
    </p:embeddedFont>
    <p:embeddedFont>
      <p:font typeface="Nunito Semi Bold"/>
      <p:regular r:id="rId16"/>
    </p:embeddedFont>
    <p:embeddedFont>
      <p:font typeface="Nunito Semi Bold"/>
      <p:regular r:id="rId17"/>
    </p:embeddedFont>
    <p:embeddedFont>
      <p:font typeface="PT Sans"/>
      <p:regular r:id="rId18"/>
    </p:embeddedFont>
    <p:embeddedFont>
      <p:font typeface="PT Sans"/>
      <p:regular r:id="rId19"/>
    </p:embeddedFont>
    <p:embeddedFont>
      <p:font typeface="PT Sans"/>
      <p:regular r:id="rId20"/>
    </p:embeddedFont>
    <p:embeddedFont>
      <p:font typeface="PT Sans"/>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5.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603534"/>
            <a:ext cx="7468553" cy="1408033"/>
          </a:xfrm>
          <a:prstGeom prst="rect">
            <a:avLst/>
          </a:prstGeom>
          <a:noFill/>
          <a:ln/>
        </p:spPr>
        <p:txBody>
          <a:bodyPr wrap="square" lIns="0" tIns="0" rIns="0" bIns="0" rtlCol="0" anchor="t"/>
          <a:lstStyle/>
          <a:p>
            <a:pPr algn="l"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资料降维与可视化：PCA 与 t-SNE 教学教材</a:t>
            </a:r>
            <a:endParaRPr lang="en-US" sz="4400" dirty="0"/>
          </a:p>
        </p:txBody>
      </p:sp>
      <p:sp>
        <p:nvSpPr>
          <p:cNvPr id="4" name="Text 1"/>
          <p:cNvSpPr/>
          <p:nvPr/>
        </p:nvSpPr>
        <p:spPr>
          <a:xfrm>
            <a:off x="6324124" y="3370540"/>
            <a:ext cx="7468553" cy="1149072"/>
          </a:xfrm>
          <a:prstGeom prst="rect">
            <a:avLst/>
          </a:prstGeom>
          <a:noFill/>
          <a:ln/>
        </p:spPr>
        <p:txBody>
          <a:bodyPr wrap="square" lIns="0" tIns="0" rIns="0" bIns="0" rtlCol="0" anchor="t"/>
          <a:lstStyle/>
          <a:p>
            <a:pPr algn="l" indent="0" marL="0">
              <a:lnSpc>
                <a:spcPts val="3000"/>
              </a:lnSpc>
              <a:buNone/>
            </a:pPr>
            <a:r>
              <a:rPr lang="en-US" sz="1850" dirty="0">
                <a:solidFill>
                  <a:srgbClr val="00002E"/>
                </a:solidFill>
                <a:latin typeface="PT Sans" pitchFamily="34" charset="0"/>
                <a:ea typeface="PT Sans" pitchFamily="34" charset="-122"/>
                <a:cs typeface="PT Sans" pitchFamily="34" charset="-120"/>
              </a:rPr>
              <a:t>本单元介绍资料科学中常见的两种资料降维方法：主成分分析（Principal Component Analysis, PCA）和t-分布随机邻域嵌入（t-distributed Stochastic Neighbor Embedding, t-SNE）。</a:t>
            </a:r>
            <a:endParaRPr lang="en-US" sz="1850" dirty="0"/>
          </a:p>
        </p:txBody>
      </p:sp>
      <p:sp>
        <p:nvSpPr>
          <p:cNvPr id="5" name="Text 2"/>
          <p:cNvSpPr/>
          <p:nvPr/>
        </p:nvSpPr>
        <p:spPr>
          <a:xfrm>
            <a:off x="6324124" y="4788813"/>
            <a:ext cx="7468553" cy="1149072"/>
          </a:xfrm>
          <a:prstGeom prst="rect">
            <a:avLst/>
          </a:prstGeom>
          <a:noFill/>
          <a:ln/>
        </p:spPr>
        <p:txBody>
          <a:bodyPr wrap="square" lIns="0" tIns="0" rIns="0" bIns="0" rtlCol="0" anchor="t"/>
          <a:lstStyle/>
          <a:p>
            <a:pPr algn="l" indent="0" marL="0">
              <a:lnSpc>
                <a:spcPts val="3000"/>
              </a:lnSpc>
              <a:buNone/>
            </a:pPr>
            <a:r>
              <a:rPr lang="en-US" sz="1850" dirty="0">
                <a:solidFill>
                  <a:srgbClr val="00002E"/>
                </a:solidFill>
                <a:latin typeface="PT Sans" pitchFamily="34" charset="0"/>
                <a:ea typeface="PT Sans" pitchFamily="34" charset="-122"/>
                <a:cs typeface="PT Sans" pitchFamily="34" charset="-120"/>
              </a:rPr>
              <a:t>通过程序实作与可视化，帮助学生理解这两种方法的应用场景与差异。我们将探讨它们的原理、特点以及如何在实际数据分析中应用这些技术。</a:t>
            </a:r>
            <a:endParaRPr lang="en-US" sz="1850" dirty="0"/>
          </a:p>
        </p:txBody>
      </p:sp>
      <p:sp>
        <p:nvSpPr>
          <p:cNvPr id="6" name="Shape 3"/>
          <p:cNvSpPr/>
          <p:nvPr/>
        </p:nvSpPr>
        <p:spPr>
          <a:xfrm>
            <a:off x="6324124" y="6224945"/>
            <a:ext cx="382905" cy="382905"/>
          </a:xfrm>
          <a:prstGeom prst="roundRect">
            <a:avLst>
              <a:gd name="adj" fmla="val 23878209"/>
            </a:avLst>
          </a:prstGeom>
          <a:noFill/>
          <a:ln w="7620">
            <a:solidFill>
              <a:srgbClr val="FFFFFF"/>
            </a:solidFill>
            <a:prstDash val="solid"/>
          </a:ln>
        </p:spPr>
      </p:sp>
      <p:pic>
        <p:nvPicPr>
          <p:cNvPr id="7" name="Image 1" descr="preencoded.png">    </p:cNvPr>
          <p:cNvPicPr>
            <a:picLocks noChangeAspect="1"/>
          </p:cNvPicPr>
          <p:nvPr/>
        </p:nvPicPr>
        <p:blipFill>
          <a:blip r:embed="rId2"/>
          <a:stretch>
            <a:fillRect/>
          </a:stretch>
        </p:blipFill>
        <p:spPr>
          <a:xfrm>
            <a:off x="6331744" y="6232565"/>
            <a:ext cx="367665" cy="367665"/>
          </a:xfrm>
          <a:prstGeom prst="rect">
            <a:avLst/>
          </a:prstGeom>
        </p:spPr>
      </p:pic>
      <p:sp>
        <p:nvSpPr>
          <p:cNvPr id="8" name="Text 4"/>
          <p:cNvSpPr/>
          <p:nvPr/>
        </p:nvSpPr>
        <p:spPr>
          <a:xfrm>
            <a:off x="6826687" y="6207085"/>
            <a:ext cx="2744510" cy="418862"/>
          </a:xfrm>
          <a:prstGeom prst="rect">
            <a:avLst/>
          </a:prstGeom>
          <a:noFill/>
          <a:ln/>
        </p:spPr>
        <p:txBody>
          <a:bodyPr wrap="none" lIns="0" tIns="0" rIns="0" bIns="0" rtlCol="0" anchor="t"/>
          <a:lstStyle/>
          <a:p>
            <a:pPr algn="l" indent="0" marL="0">
              <a:lnSpc>
                <a:spcPts val="3250"/>
              </a:lnSpc>
              <a:buNone/>
            </a:pPr>
            <a:r>
              <a:rPr lang="en-US" sz="2350" b="1" dirty="0">
                <a:solidFill>
                  <a:srgbClr val="00002E"/>
                </a:solidFill>
                <a:latin typeface="PT Sans Bold" pitchFamily="34" charset="0"/>
                <a:ea typeface="PT Sans Bold" pitchFamily="34" charset="-122"/>
                <a:cs typeface="PT Sans Bold" pitchFamily="34" charset="-120"/>
              </a:rPr>
              <a:t>投稿人：Kunta Hsieh</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9948" y="1120735"/>
            <a:ext cx="5133380" cy="641747"/>
          </a:xfrm>
          <a:prstGeom prst="rect">
            <a:avLst/>
          </a:prstGeom>
          <a:noFill/>
          <a:ln/>
        </p:spPr>
        <p:txBody>
          <a:bodyPr wrap="none" lIns="0" tIns="0" rIns="0" bIns="0" rtlCol="0" anchor="t"/>
          <a:lstStyle/>
          <a:p>
            <a:pPr algn="l" indent="0" marL="0">
              <a:lnSpc>
                <a:spcPts val="5050"/>
              </a:lnSpc>
              <a:buNone/>
            </a:pPr>
            <a:r>
              <a:rPr lang="en-US" sz="4000" dirty="0">
                <a:solidFill>
                  <a:srgbClr val="00002E"/>
                </a:solidFill>
                <a:latin typeface="Nunito Semi Bold" pitchFamily="34" charset="0"/>
                <a:ea typeface="Nunito Semi Bold" pitchFamily="34" charset="-122"/>
                <a:cs typeface="Nunito Semi Bold" pitchFamily="34" charset="-120"/>
              </a:rPr>
              <a:t>资料降维的概念</a:t>
            </a:r>
            <a:endParaRPr lang="en-US" sz="4000" dirty="0"/>
          </a:p>
        </p:txBody>
      </p:sp>
      <p:sp>
        <p:nvSpPr>
          <p:cNvPr id="4" name="Text 1"/>
          <p:cNvSpPr/>
          <p:nvPr/>
        </p:nvSpPr>
        <p:spPr>
          <a:xfrm>
            <a:off x="6249948" y="2089666"/>
            <a:ext cx="7616904" cy="697944"/>
          </a:xfrm>
          <a:prstGeom prst="rect">
            <a:avLst/>
          </a:prstGeom>
          <a:noFill/>
          <a:ln/>
        </p:spPr>
        <p:txBody>
          <a:bodyPr wrap="square" lIns="0" tIns="0" rIns="0" bIns="0" rtlCol="0" anchor="t"/>
          <a:lstStyle/>
          <a:p>
            <a:pPr algn="l" indent="0" marL="0">
              <a:lnSpc>
                <a:spcPts val="2700"/>
              </a:lnSpc>
              <a:buNone/>
            </a:pPr>
            <a:r>
              <a:rPr lang="en-US" sz="1700" dirty="0">
                <a:solidFill>
                  <a:srgbClr val="00002E"/>
                </a:solidFill>
                <a:latin typeface="PT Sans" pitchFamily="34" charset="0"/>
                <a:ea typeface="PT Sans" pitchFamily="34" charset="-122"/>
                <a:cs typeface="PT Sans" pitchFamily="34" charset="-120"/>
              </a:rPr>
              <a:t>在资料分析与机器学习中，常常会遇到"高维资料"，也就是每一笔资料都拥有许多特征（features）。例如图片资料，一张8x8像素的图片就有64维特征。</a:t>
            </a:r>
            <a:endParaRPr lang="en-US" sz="1700" dirty="0"/>
          </a:p>
        </p:txBody>
      </p:sp>
      <p:sp>
        <p:nvSpPr>
          <p:cNvPr id="5" name="Text 2"/>
          <p:cNvSpPr/>
          <p:nvPr/>
        </p:nvSpPr>
        <p:spPr>
          <a:xfrm>
            <a:off x="6249948" y="3032998"/>
            <a:ext cx="7616904" cy="697944"/>
          </a:xfrm>
          <a:prstGeom prst="rect">
            <a:avLst/>
          </a:prstGeom>
          <a:noFill/>
          <a:ln/>
        </p:spPr>
        <p:txBody>
          <a:bodyPr wrap="square" lIns="0" tIns="0" rIns="0" bIns="0" rtlCol="0" anchor="t"/>
          <a:lstStyle/>
          <a:p>
            <a:pPr algn="l" indent="0" marL="0">
              <a:lnSpc>
                <a:spcPts val="2700"/>
              </a:lnSpc>
              <a:buNone/>
            </a:pPr>
            <a:r>
              <a:rPr lang="en-US" sz="1700" dirty="0">
                <a:solidFill>
                  <a:srgbClr val="00002E"/>
                </a:solidFill>
                <a:latin typeface="PT Sans" pitchFamily="34" charset="0"/>
                <a:ea typeface="PT Sans" pitchFamily="34" charset="-122"/>
                <a:cs typeface="PT Sans" pitchFamily="34" charset="-120"/>
              </a:rPr>
              <a:t>资料降维（Dimensionality Reduction）是一种将高维资料映射到低维空间的技术，其目的包括：降低计算成本、去除噪音、帮助资料可视化与解释。</a:t>
            </a:r>
            <a:endParaRPr lang="en-US" sz="1700" dirty="0"/>
          </a:p>
        </p:txBody>
      </p:sp>
      <p:sp>
        <p:nvSpPr>
          <p:cNvPr id="6" name="Shape 3"/>
          <p:cNvSpPr/>
          <p:nvPr/>
        </p:nvSpPr>
        <p:spPr>
          <a:xfrm>
            <a:off x="6249948" y="3976330"/>
            <a:ext cx="3699391" cy="1631633"/>
          </a:xfrm>
          <a:prstGeom prst="roundRect">
            <a:avLst>
              <a:gd name="adj" fmla="val 20057"/>
            </a:avLst>
          </a:prstGeom>
          <a:solidFill>
            <a:srgbClr val="F3F3FF"/>
          </a:solidFill>
          <a:ln w="22860">
            <a:solidFill>
              <a:srgbClr val="2D4DF2"/>
            </a:solidFill>
            <a:prstDash val="solid"/>
          </a:ln>
        </p:spPr>
      </p:sp>
      <p:sp>
        <p:nvSpPr>
          <p:cNvPr id="7" name="Text 4"/>
          <p:cNvSpPr/>
          <p:nvPr/>
        </p:nvSpPr>
        <p:spPr>
          <a:xfrm>
            <a:off x="6490930" y="4217313"/>
            <a:ext cx="2566630" cy="320873"/>
          </a:xfrm>
          <a:prstGeom prst="rect">
            <a:avLst/>
          </a:prstGeom>
          <a:noFill/>
          <a:ln/>
        </p:spPr>
        <p:txBody>
          <a:bodyPr wrap="none" lIns="0" tIns="0" rIns="0" bIns="0" rtlCol="0" anchor="t"/>
          <a:lstStyle/>
          <a:p>
            <a:pPr algn="l" indent="0" marL="0">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降低计算成本</a:t>
            </a:r>
            <a:endParaRPr lang="en-US" sz="2000" dirty="0"/>
          </a:p>
        </p:txBody>
      </p:sp>
      <p:sp>
        <p:nvSpPr>
          <p:cNvPr id="8" name="Text 5"/>
          <p:cNvSpPr/>
          <p:nvPr/>
        </p:nvSpPr>
        <p:spPr>
          <a:xfrm>
            <a:off x="6490930" y="4669036"/>
            <a:ext cx="3217426" cy="697944"/>
          </a:xfrm>
          <a:prstGeom prst="rect">
            <a:avLst/>
          </a:prstGeom>
          <a:noFill/>
          <a:ln/>
        </p:spPr>
        <p:txBody>
          <a:bodyPr wrap="square" lIns="0" tIns="0" rIns="0" bIns="0" rtlCol="0" anchor="t"/>
          <a:lstStyle/>
          <a:p>
            <a:pPr algn="l" indent="0" marL="0">
              <a:lnSpc>
                <a:spcPts val="2700"/>
              </a:lnSpc>
              <a:buNone/>
            </a:pPr>
            <a:r>
              <a:rPr lang="en-US" sz="1700" dirty="0">
                <a:solidFill>
                  <a:srgbClr val="00002E"/>
                </a:solidFill>
                <a:latin typeface="PT Sans" pitchFamily="34" charset="0"/>
                <a:ea typeface="PT Sans" pitchFamily="34" charset="-122"/>
                <a:cs typeface="PT Sans" pitchFamily="34" charset="-120"/>
              </a:rPr>
              <a:t>减少特征数量可以显著提高算法效率，尤其是处理大规模数据时</a:t>
            </a:r>
            <a:endParaRPr lang="en-US" sz="1700" dirty="0"/>
          </a:p>
        </p:txBody>
      </p:sp>
      <p:sp>
        <p:nvSpPr>
          <p:cNvPr id="9" name="Shape 6"/>
          <p:cNvSpPr/>
          <p:nvPr/>
        </p:nvSpPr>
        <p:spPr>
          <a:xfrm>
            <a:off x="10167461" y="3976330"/>
            <a:ext cx="3699391" cy="1631633"/>
          </a:xfrm>
          <a:prstGeom prst="roundRect">
            <a:avLst>
              <a:gd name="adj" fmla="val 20057"/>
            </a:avLst>
          </a:prstGeom>
          <a:solidFill>
            <a:srgbClr val="F3F3FF"/>
          </a:solidFill>
          <a:ln w="22860">
            <a:solidFill>
              <a:srgbClr val="018CE1"/>
            </a:solidFill>
            <a:prstDash val="solid"/>
          </a:ln>
        </p:spPr>
      </p:sp>
      <p:sp>
        <p:nvSpPr>
          <p:cNvPr id="10" name="Text 7"/>
          <p:cNvSpPr/>
          <p:nvPr/>
        </p:nvSpPr>
        <p:spPr>
          <a:xfrm>
            <a:off x="10408444" y="4217313"/>
            <a:ext cx="2566630" cy="320873"/>
          </a:xfrm>
          <a:prstGeom prst="rect">
            <a:avLst/>
          </a:prstGeom>
          <a:noFill/>
          <a:ln/>
        </p:spPr>
        <p:txBody>
          <a:bodyPr wrap="none" lIns="0" tIns="0" rIns="0" bIns="0" rtlCol="0" anchor="t"/>
          <a:lstStyle/>
          <a:p>
            <a:pPr algn="l" indent="0" marL="0">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去除噪音</a:t>
            </a:r>
            <a:endParaRPr lang="en-US" sz="2000" dirty="0"/>
          </a:p>
        </p:txBody>
      </p:sp>
      <p:sp>
        <p:nvSpPr>
          <p:cNvPr id="11" name="Text 8"/>
          <p:cNvSpPr/>
          <p:nvPr/>
        </p:nvSpPr>
        <p:spPr>
          <a:xfrm>
            <a:off x="10408444" y="4669036"/>
            <a:ext cx="3217426" cy="697944"/>
          </a:xfrm>
          <a:prstGeom prst="rect">
            <a:avLst/>
          </a:prstGeom>
          <a:noFill/>
          <a:ln/>
        </p:spPr>
        <p:txBody>
          <a:bodyPr wrap="square" lIns="0" tIns="0" rIns="0" bIns="0" rtlCol="0" anchor="t"/>
          <a:lstStyle/>
          <a:p>
            <a:pPr algn="l" indent="0" marL="0">
              <a:lnSpc>
                <a:spcPts val="2700"/>
              </a:lnSpc>
              <a:buNone/>
            </a:pPr>
            <a:r>
              <a:rPr lang="en-US" sz="1700" dirty="0">
                <a:solidFill>
                  <a:srgbClr val="00002E"/>
                </a:solidFill>
                <a:latin typeface="PT Sans" pitchFamily="34" charset="0"/>
                <a:ea typeface="PT Sans" pitchFamily="34" charset="-122"/>
                <a:cs typeface="PT Sans" pitchFamily="34" charset="-120"/>
              </a:rPr>
              <a:t>通过保留主要信息而舍弃次要变异，可以有效过滤数据中的噪音</a:t>
            </a:r>
            <a:endParaRPr lang="en-US" sz="1700" dirty="0"/>
          </a:p>
        </p:txBody>
      </p:sp>
      <p:sp>
        <p:nvSpPr>
          <p:cNvPr id="12" name="Shape 9"/>
          <p:cNvSpPr/>
          <p:nvPr/>
        </p:nvSpPr>
        <p:spPr>
          <a:xfrm>
            <a:off x="6249948" y="5826085"/>
            <a:ext cx="7616904" cy="1282660"/>
          </a:xfrm>
          <a:prstGeom prst="roundRect">
            <a:avLst>
              <a:gd name="adj" fmla="val 25514"/>
            </a:avLst>
          </a:prstGeom>
          <a:solidFill>
            <a:srgbClr val="F3F3FF"/>
          </a:solidFill>
          <a:ln w="22860">
            <a:solidFill>
              <a:srgbClr val="DA33BF"/>
            </a:solidFill>
            <a:prstDash val="solid"/>
          </a:ln>
        </p:spPr>
      </p:sp>
      <p:sp>
        <p:nvSpPr>
          <p:cNvPr id="13" name="Text 10"/>
          <p:cNvSpPr/>
          <p:nvPr/>
        </p:nvSpPr>
        <p:spPr>
          <a:xfrm>
            <a:off x="6490930" y="6067068"/>
            <a:ext cx="2566630" cy="320873"/>
          </a:xfrm>
          <a:prstGeom prst="rect">
            <a:avLst/>
          </a:prstGeom>
          <a:noFill/>
          <a:ln/>
        </p:spPr>
        <p:txBody>
          <a:bodyPr wrap="none" lIns="0" tIns="0" rIns="0" bIns="0" rtlCol="0" anchor="t"/>
          <a:lstStyle/>
          <a:p>
            <a:pPr algn="l" indent="0" marL="0">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辅助可视化</a:t>
            </a:r>
            <a:endParaRPr lang="en-US" sz="2000" dirty="0"/>
          </a:p>
        </p:txBody>
      </p:sp>
      <p:sp>
        <p:nvSpPr>
          <p:cNvPr id="14" name="Text 11"/>
          <p:cNvSpPr/>
          <p:nvPr/>
        </p:nvSpPr>
        <p:spPr>
          <a:xfrm>
            <a:off x="6490930" y="6518791"/>
            <a:ext cx="7134939" cy="348972"/>
          </a:xfrm>
          <a:prstGeom prst="rect">
            <a:avLst/>
          </a:prstGeom>
          <a:noFill/>
          <a:ln/>
        </p:spPr>
        <p:txBody>
          <a:bodyPr wrap="none" lIns="0" tIns="0" rIns="0" bIns="0" rtlCol="0" anchor="t"/>
          <a:lstStyle/>
          <a:p>
            <a:pPr algn="l" indent="0" marL="0">
              <a:lnSpc>
                <a:spcPts val="2700"/>
              </a:lnSpc>
              <a:buNone/>
            </a:pPr>
            <a:r>
              <a:rPr lang="en-US" sz="1700" dirty="0">
                <a:solidFill>
                  <a:srgbClr val="00002E"/>
                </a:solidFill>
                <a:latin typeface="PT Sans" pitchFamily="34" charset="0"/>
                <a:ea typeface="PT Sans" pitchFamily="34" charset="-122"/>
                <a:cs typeface="PT Sans" pitchFamily="34" charset="-120"/>
              </a:rPr>
              <a:t>将高维数据降至2-3维，使人类可以直观理解数据结构和模式</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6275" y="531614"/>
            <a:ext cx="4546402" cy="568285"/>
          </a:xfrm>
          <a:prstGeom prst="rect">
            <a:avLst/>
          </a:prstGeom>
          <a:noFill/>
          <a:ln/>
        </p:spPr>
        <p:txBody>
          <a:bodyPr wrap="none" lIns="0" tIns="0" rIns="0" bIns="0" rtlCol="0" anchor="t"/>
          <a:lstStyle/>
          <a:p>
            <a:pPr algn="l" indent="0" marL="0">
              <a:lnSpc>
                <a:spcPts val="4450"/>
              </a:lnSpc>
              <a:buNone/>
            </a:pPr>
            <a:r>
              <a:rPr lang="en-US" sz="3550" dirty="0">
                <a:solidFill>
                  <a:srgbClr val="00002E"/>
                </a:solidFill>
                <a:latin typeface="Nunito Semi Bold" pitchFamily="34" charset="0"/>
                <a:ea typeface="Nunito Semi Bold" pitchFamily="34" charset="-122"/>
                <a:cs typeface="Nunito Semi Bold" pitchFamily="34" charset="-120"/>
              </a:rPr>
              <a:t>主成分分析（PCA）</a:t>
            </a:r>
            <a:endParaRPr lang="en-US" sz="3550" dirty="0"/>
          </a:p>
        </p:txBody>
      </p:sp>
      <p:sp>
        <p:nvSpPr>
          <p:cNvPr id="4" name="Text 1"/>
          <p:cNvSpPr/>
          <p:nvPr/>
        </p:nvSpPr>
        <p:spPr>
          <a:xfrm>
            <a:off x="676275" y="1389698"/>
            <a:ext cx="7791450" cy="618173"/>
          </a:xfrm>
          <a:prstGeom prst="rect">
            <a:avLst/>
          </a:prstGeom>
          <a:noFill/>
          <a:ln/>
        </p:spPr>
        <p:txBody>
          <a:bodyPr wrap="squar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PCA是一种</a:t>
            </a:r>
            <a:pPr algn="l" indent="0" marL="0">
              <a:lnSpc>
                <a:spcPts val="2400"/>
              </a:lnSpc>
              <a:buNone/>
            </a:pPr>
            <a:r>
              <a:rPr lang="en-US" sz="1500" b="1" dirty="0">
                <a:solidFill>
                  <a:srgbClr val="00002E"/>
                </a:solidFill>
                <a:latin typeface="PT Sans" pitchFamily="34" charset="0"/>
                <a:ea typeface="PT Sans" pitchFamily="34" charset="-122"/>
                <a:cs typeface="PT Sans" pitchFamily="34" charset="-120"/>
              </a:rPr>
              <a:t>线性降维方法</a:t>
            </a:r>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，它通过寻找数据中"变异性最大"的方向，将资料投影到新的坐标轴（主成分）上。</a:t>
            </a:r>
            <a:endParaRPr lang="en-US" sz="1500" dirty="0"/>
          </a:p>
        </p:txBody>
      </p:sp>
      <p:pic>
        <p:nvPicPr>
          <p:cNvPr id="5" name="Image 1" descr="preencoded.png">    </p:cNvPr>
          <p:cNvPicPr>
            <a:picLocks noChangeAspect="1"/>
          </p:cNvPicPr>
          <p:nvPr/>
        </p:nvPicPr>
        <p:blipFill>
          <a:blip r:embed="rId2"/>
          <a:stretch>
            <a:fillRect/>
          </a:stretch>
        </p:blipFill>
        <p:spPr>
          <a:xfrm>
            <a:off x="676275" y="2225159"/>
            <a:ext cx="966073" cy="1159312"/>
          </a:xfrm>
          <a:prstGeom prst="rect">
            <a:avLst/>
          </a:prstGeom>
        </p:spPr>
      </p:pic>
      <p:sp>
        <p:nvSpPr>
          <p:cNvPr id="6" name="Text 2"/>
          <p:cNvSpPr/>
          <p:nvPr/>
        </p:nvSpPr>
        <p:spPr>
          <a:xfrm>
            <a:off x="1932146" y="2418278"/>
            <a:ext cx="2273141" cy="284083"/>
          </a:xfrm>
          <a:prstGeom prst="rect">
            <a:avLst/>
          </a:prstGeom>
          <a:noFill/>
          <a:ln/>
        </p:spPr>
        <p:txBody>
          <a:bodyPr wrap="none" lIns="0" tIns="0" rIns="0" bIns="0" rtlCol="0" anchor="t"/>
          <a:lstStyle/>
          <a:p>
            <a:pPr algn="l" indent="0" marL="0">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原始高维数据</a:t>
            </a:r>
            <a:endParaRPr lang="en-US" sz="1750" dirty="0"/>
          </a:p>
        </p:txBody>
      </p:sp>
      <p:sp>
        <p:nvSpPr>
          <p:cNvPr id="7" name="Text 3"/>
          <p:cNvSpPr/>
          <p:nvPr/>
        </p:nvSpPr>
        <p:spPr>
          <a:xfrm>
            <a:off x="1932146" y="2818209"/>
            <a:ext cx="6535579" cy="309086"/>
          </a:xfrm>
          <a:prstGeom prst="rect">
            <a:avLst/>
          </a:prstGeom>
          <a:noFill/>
          <a:ln/>
        </p:spPr>
        <p:txBody>
          <a:bodyPr wrap="non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包含多个特征的数据集，如64维的手写数字图像</a:t>
            </a:r>
            <a:endParaRPr lang="en-US" sz="1500" dirty="0"/>
          </a:p>
        </p:txBody>
      </p:sp>
      <p:pic>
        <p:nvPicPr>
          <p:cNvPr id="8" name="Image 2" descr="preencoded.png">    </p:cNvPr>
          <p:cNvPicPr>
            <a:picLocks noChangeAspect="1"/>
          </p:cNvPicPr>
          <p:nvPr/>
        </p:nvPicPr>
        <p:blipFill>
          <a:blip r:embed="rId3"/>
          <a:stretch>
            <a:fillRect/>
          </a:stretch>
        </p:blipFill>
        <p:spPr>
          <a:xfrm>
            <a:off x="676275" y="3384471"/>
            <a:ext cx="966073" cy="1159312"/>
          </a:xfrm>
          <a:prstGeom prst="rect">
            <a:avLst/>
          </a:prstGeom>
        </p:spPr>
      </p:pic>
      <p:sp>
        <p:nvSpPr>
          <p:cNvPr id="9" name="Text 4"/>
          <p:cNvSpPr/>
          <p:nvPr/>
        </p:nvSpPr>
        <p:spPr>
          <a:xfrm>
            <a:off x="1932146" y="3577590"/>
            <a:ext cx="2273141" cy="284083"/>
          </a:xfrm>
          <a:prstGeom prst="rect">
            <a:avLst/>
          </a:prstGeom>
          <a:noFill/>
          <a:ln/>
        </p:spPr>
        <p:txBody>
          <a:bodyPr wrap="none" lIns="0" tIns="0" rIns="0" bIns="0" rtlCol="0" anchor="t"/>
          <a:lstStyle/>
          <a:p>
            <a:pPr algn="l" indent="0" marL="0">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计算协方差矩阵</a:t>
            </a:r>
            <a:endParaRPr lang="en-US" sz="1750" dirty="0"/>
          </a:p>
        </p:txBody>
      </p:sp>
      <p:sp>
        <p:nvSpPr>
          <p:cNvPr id="10" name="Text 5"/>
          <p:cNvSpPr/>
          <p:nvPr/>
        </p:nvSpPr>
        <p:spPr>
          <a:xfrm>
            <a:off x="1932146" y="3977521"/>
            <a:ext cx="6535579" cy="309086"/>
          </a:xfrm>
          <a:prstGeom prst="rect">
            <a:avLst/>
          </a:prstGeom>
          <a:noFill/>
          <a:ln/>
        </p:spPr>
        <p:txBody>
          <a:bodyPr wrap="non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分析特征间的关系和变异程度</a:t>
            </a:r>
            <a:endParaRPr lang="en-US" sz="1500" dirty="0"/>
          </a:p>
        </p:txBody>
      </p:sp>
      <p:pic>
        <p:nvPicPr>
          <p:cNvPr id="11" name="Image 3" descr="preencoded.png">    </p:cNvPr>
          <p:cNvPicPr>
            <a:picLocks noChangeAspect="1"/>
          </p:cNvPicPr>
          <p:nvPr/>
        </p:nvPicPr>
        <p:blipFill>
          <a:blip r:embed="rId4"/>
          <a:stretch>
            <a:fillRect/>
          </a:stretch>
        </p:blipFill>
        <p:spPr>
          <a:xfrm>
            <a:off x="676275" y="4543782"/>
            <a:ext cx="966073" cy="1159312"/>
          </a:xfrm>
          <a:prstGeom prst="rect">
            <a:avLst/>
          </a:prstGeom>
        </p:spPr>
      </p:pic>
      <p:sp>
        <p:nvSpPr>
          <p:cNvPr id="12" name="Text 6"/>
          <p:cNvSpPr/>
          <p:nvPr/>
        </p:nvSpPr>
        <p:spPr>
          <a:xfrm>
            <a:off x="1932146" y="4736902"/>
            <a:ext cx="2273141" cy="284083"/>
          </a:xfrm>
          <a:prstGeom prst="rect">
            <a:avLst/>
          </a:prstGeom>
          <a:noFill/>
          <a:ln/>
        </p:spPr>
        <p:txBody>
          <a:bodyPr wrap="none" lIns="0" tIns="0" rIns="0" bIns="0" rtlCol="0" anchor="t"/>
          <a:lstStyle/>
          <a:p>
            <a:pPr algn="l" indent="0" marL="0">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特征值分解</a:t>
            </a:r>
            <a:endParaRPr lang="en-US" sz="1750" dirty="0"/>
          </a:p>
        </p:txBody>
      </p:sp>
      <p:sp>
        <p:nvSpPr>
          <p:cNvPr id="13" name="Text 7"/>
          <p:cNvSpPr/>
          <p:nvPr/>
        </p:nvSpPr>
        <p:spPr>
          <a:xfrm>
            <a:off x="1932146" y="5136833"/>
            <a:ext cx="6535579" cy="309086"/>
          </a:xfrm>
          <a:prstGeom prst="rect">
            <a:avLst/>
          </a:prstGeom>
          <a:noFill/>
          <a:ln/>
        </p:spPr>
        <p:txBody>
          <a:bodyPr wrap="non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找出主要变异方向（特征向量）及其重要性（特征值）</a:t>
            </a:r>
            <a:endParaRPr lang="en-US" sz="1500" dirty="0"/>
          </a:p>
        </p:txBody>
      </p:sp>
      <p:pic>
        <p:nvPicPr>
          <p:cNvPr id="14" name="Image 4" descr="preencoded.png">    </p:cNvPr>
          <p:cNvPicPr>
            <a:picLocks noChangeAspect="1"/>
          </p:cNvPicPr>
          <p:nvPr/>
        </p:nvPicPr>
        <p:blipFill>
          <a:blip r:embed="rId5"/>
          <a:stretch>
            <a:fillRect/>
          </a:stretch>
        </p:blipFill>
        <p:spPr>
          <a:xfrm>
            <a:off x="676275" y="5703094"/>
            <a:ext cx="966073" cy="1159312"/>
          </a:xfrm>
          <a:prstGeom prst="rect">
            <a:avLst/>
          </a:prstGeom>
        </p:spPr>
      </p:pic>
      <p:sp>
        <p:nvSpPr>
          <p:cNvPr id="15" name="Text 8"/>
          <p:cNvSpPr/>
          <p:nvPr/>
        </p:nvSpPr>
        <p:spPr>
          <a:xfrm>
            <a:off x="1932146" y="5896213"/>
            <a:ext cx="2273141" cy="284083"/>
          </a:xfrm>
          <a:prstGeom prst="rect">
            <a:avLst/>
          </a:prstGeom>
          <a:noFill/>
          <a:ln/>
        </p:spPr>
        <p:txBody>
          <a:bodyPr wrap="none" lIns="0" tIns="0" rIns="0" bIns="0" rtlCol="0" anchor="t"/>
          <a:lstStyle/>
          <a:p>
            <a:pPr algn="l" indent="0" marL="0">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降维投影</a:t>
            </a:r>
            <a:endParaRPr lang="en-US" sz="1750" dirty="0"/>
          </a:p>
        </p:txBody>
      </p:sp>
      <p:sp>
        <p:nvSpPr>
          <p:cNvPr id="16" name="Text 9"/>
          <p:cNvSpPr/>
          <p:nvPr/>
        </p:nvSpPr>
        <p:spPr>
          <a:xfrm>
            <a:off x="1932146" y="6296144"/>
            <a:ext cx="6535579" cy="309086"/>
          </a:xfrm>
          <a:prstGeom prst="rect">
            <a:avLst/>
          </a:prstGeom>
          <a:noFill/>
          <a:ln/>
        </p:spPr>
        <p:txBody>
          <a:bodyPr wrap="non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将数据投影到选定的主成分上，得到降维后的表示</a:t>
            </a:r>
            <a:endParaRPr lang="en-US" sz="1500" dirty="0"/>
          </a:p>
        </p:txBody>
      </p:sp>
      <p:sp>
        <p:nvSpPr>
          <p:cNvPr id="17" name="Text 10"/>
          <p:cNvSpPr/>
          <p:nvPr/>
        </p:nvSpPr>
        <p:spPr>
          <a:xfrm>
            <a:off x="676275" y="7079694"/>
            <a:ext cx="7791450" cy="618173"/>
          </a:xfrm>
          <a:prstGeom prst="rect">
            <a:avLst/>
          </a:prstGeom>
          <a:noFill/>
          <a:ln/>
        </p:spPr>
        <p:txBody>
          <a:bodyPr wrap="square" lIns="0" tIns="0" rIns="0" bIns="0" rtlCol="0" anchor="t"/>
          <a:lstStyle/>
          <a:p>
            <a:pPr algn="l" indent="0" marL="0">
              <a:lnSpc>
                <a:spcPts val="2400"/>
              </a:lnSpc>
              <a:buNone/>
            </a:pPr>
            <a:r>
              <a:rPr lang="en-US" sz="1500" dirty="0">
                <a:solidFill>
                  <a:srgbClr val="00002E"/>
                </a:solidFill>
                <a:latin typeface="PT Sans" pitchFamily="34" charset="0"/>
                <a:ea typeface="PT Sans" pitchFamily="34" charset="-122"/>
                <a:cs typeface="PT Sans" pitchFamily="34" charset="-120"/>
              </a:rPr>
              <a:t>PCA的特点包括：保留资料的主要变化方向、主成分彼此正交（无相关性）、计算速度快，适合初步资料探索与可视化。</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8307" y="580073"/>
            <a:ext cx="12576096" cy="620435"/>
          </a:xfrm>
          <a:prstGeom prst="rect">
            <a:avLst/>
          </a:prstGeom>
          <a:noFill/>
          <a:ln/>
        </p:spPr>
        <p:txBody>
          <a:bodyPr wrap="none" lIns="0" tIns="0" rIns="0" bIns="0" rtlCol="0" anchor="t"/>
          <a:lstStyle/>
          <a:p>
            <a:pPr algn="l" indent="0" marL="0">
              <a:lnSpc>
                <a:spcPts val="4850"/>
              </a:lnSpc>
              <a:buNone/>
            </a:pPr>
            <a:r>
              <a:rPr lang="en-US" sz="3900" dirty="0">
                <a:solidFill>
                  <a:srgbClr val="00002E"/>
                </a:solidFill>
                <a:latin typeface="Nunito Semi Bold" pitchFamily="34" charset="0"/>
                <a:ea typeface="Nunito Semi Bold" pitchFamily="34" charset="-122"/>
                <a:cs typeface="Nunito Semi Bold" pitchFamily="34" charset="-120"/>
              </a:rPr>
              <a:t>t-SNE（t-distributed Stochastic Neighbor Embedding）</a:t>
            </a:r>
            <a:endParaRPr lang="en-US" sz="3900" dirty="0"/>
          </a:p>
        </p:txBody>
      </p:sp>
      <p:sp>
        <p:nvSpPr>
          <p:cNvPr id="3" name="Text 1"/>
          <p:cNvSpPr/>
          <p:nvPr/>
        </p:nvSpPr>
        <p:spPr>
          <a:xfrm>
            <a:off x="738307" y="1622346"/>
            <a:ext cx="13153787" cy="675084"/>
          </a:xfrm>
          <a:prstGeom prst="rect">
            <a:avLst/>
          </a:prstGeom>
          <a:noFill/>
          <a:ln/>
        </p:spPr>
        <p:txBody>
          <a:bodyPr wrap="square" lIns="0" tIns="0" rIns="0" bIns="0" rtlCol="0" anchor="t"/>
          <a:lstStyle/>
          <a:p>
            <a:pPr algn="l" indent="0" marL="0">
              <a:lnSpc>
                <a:spcPts val="2650"/>
              </a:lnSpc>
              <a:buNone/>
            </a:pPr>
            <a:r>
              <a:rPr lang="en-US" sz="1650" dirty="0">
                <a:solidFill>
                  <a:srgbClr val="00002E"/>
                </a:solidFill>
                <a:latin typeface="PT Sans" pitchFamily="34" charset="0"/>
                <a:ea typeface="PT Sans" pitchFamily="34" charset="-122"/>
                <a:cs typeface="PT Sans" pitchFamily="34" charset="-120"/>
              </a:rPr>
              <a:t>t-SNE是一种</a:t>
            </a:r>
            <a:pPr algn="l" indent="0" marL="0">
              <a:lnSpc>
                <a:spcPts val="2650"/>
              </a:lnSpc>
              <a:buNone/>
            </a:pPr>
            <a:r>
              <a:rPr lang="en-US" sz="1650" b="1" dirty="0">
                <a:solidFill>
                  <a:srgbClr val="00002E"/>
                </a:solidFill>
                <a:latin typeface="PT Sans" pitchFamily="34" charset="0"/>
                <a:ea typeface="PT Sans" pitchFamily="34" charset="-122"/>
                <a:cs typeface="PT Sans" pitchFamily="34" charset="-120"/>
              </a:rPr>
              <a:t>非线性降维技术</a:t>
            </a:r>
            <a:pPr algn="l" indent="0" marL="0">
              <a:lnSpc>
                <a:spcPts val="2650"/>
              </a:lnSpc>
              <a:buNone/>
            </a:pPr>
            <a:r>
              <a:rPr lang="en-US" sz="1650" dirty="0">
                <a:solidFill>
                  <a:srgbClr val="00002E"/>
                </a:solidFill>
                <a:latin typeface="PT Sans" pitchFamily="34" charset="0"/>
                <a:ea typeface="PT Sans" pitchFamily="34" charset="-122"/>
                <a:cs typeface="PT Sans" pitchFamily="34" charset="-120"/>
              </a:rPr>
              <a:t>，特别适用于将高维资料压缩到二维或三维以进行可视化。它试图让低维空间中的资料分布尽可能保留原始高维空间中的邻近关系，也就是"邻近的资料点仍然靠近"。</a:t>
            </a:r>
            <a:endParaRPr lang="en-US" sz="1650" dirty="0"/>
          </a:p>
        </p:txBody>
      </p:sp>
      <p:sp>
        <p:nvSpPr>
          <p:cNvPr id="4" name="Text 2"/>
          <p:cNvSpPr/>
          <p:nvPr/>
        </p:nvSpPr>
        <p:spPr>
          <a:xfrm>
            <a:off x="2214801" y="3219331"/>
            <a:ext cx="2482096" cy="310277"/>
          </a:xfrm>
          <a:prstGeom prst="rect">
            <a:avLst/>
          </a:prstGeom>
          <a:noFill/>
          <a:ln/>
        </p:spPr>
        <p:txBody>
          <a:bodyPr wrap="none" lIns="0" tIns="0" rIns="0" bIns="0" rtlCol="0" anchor="t"/>
          <a:lstStyle/>
          <a:p>
            <a:pPr algn="r" indent="0" marL="0">
              <a:lnSpc>
                <a:spcPts val="2400"/>
              </a:lnSpc>
              <a:buNone/>
            </a:pPr>
            <a:r>
              <a:rPr lang="en-US" sz="1950" dirty="0">
                <a:solidFill>
                  <a:srgbClr val="00002E"/>
                </a:solidFill>
                <a:latin typeface="Nunito Semi Bold" pitchFamily="34" charset="0"/>
                <a:ea typeface="Nunito Semi Bold" pitchFamily="34" charset="-122"/>
                <a:cs typeface="Nunito Semi Bold" pitchFamily="34" charset="-120"/>
              </a:rPr>
              <a:t>计算高维相似度</a:t>
            </a:r>
            <a:endParaRPr lang="en-US" sz="1950" dirty="0"/>
          </a:p>
        </p:txBody>
      </p:sp>
      <p:sp>
        <p:nvSpPr>
          <p:cNvPr id="5" name="Text 3"/>
          <p:cNvSpPr/>
          <p:nvPr/>
        </p:nvSpPr>
        <p:spPr>
          <a:xfrm>
            <a:off x="738307" y="3656171"/>
            <a:ext cx="3958590" cy="337542"/>
          </a:xfrm>
          <a:prstGeom prst="rect">
            <a:avLst/>
          </a:prstGeom>
          <a:noFill/>
          <a:ln/>
        </p:spPr>
        <p:txBody>
          <a:bodyPr wrap="none" lIns="0" tIns="0" rIns="0" bIns="0" rtlCol="0" anchor="t"/>
          <a:lstStyle/>
          <a:p>
            <a:pPr algn="r" indent="0" marL="0">
              <a:lnSpc>
                <a:spcPts val="2650"/>
              </a:lnSpc>
              <a:buNone/>
            </a:pPr>
            <a:r>
              <a:rPr lang="en-US" sz="1650" dirty="0">
                <a:solidFill>
                  <a:srgbClr val="00002E"/>
                </a:solidFill>
                <a:latin typeface="PT Sans" pitchFamily="34" charset="0"/>
                <a:ea typeface="PT Sans" pitchFamily="34" charset="-122"/>
                <a:cs typeface="PT Sans" pitchFamily="34" charset="-120"/>
              </a:rPr>
              <a:t>构建点与点之间的条件概率分布</a:t>
            </a:r>
            <a:endParaRPr lang="en-US" sz="1650" dirty="0"/>
          </a:p>
        </p:txBody>
      </p:sp>
      <p:pic>
        <p:nvPicPr>
          <p:cNvPr id="6" name="Image 0" descr="preencoded.png">    </p:cNvPr>
          <p:cNvPicPr>
            <a:picLocks noChangeAspect="1"/>
          </p:cNvPicPr>
          <p:nvPr/>
        </p:nvPicPr>
        <p:blipFill>
          <a:blip r:embed="rId1"/>
          <a:stretch>
            <a:fillRect/>
          </a:stretch>
        </p:blipFill>
        <p:spPr>
          <a:xfrm>
            <a:off x="5013246" y="2534722"/>
            <a:ext cx="4603790" cy="4603790"/>
          </a:xfrm>
          <a:prstGeom prst="rect">
            <a:avLst/>
          </a:prstGeom>
        </p:spPr>
      </p:pic>
      <p:pic>
        <p:nvPicPr>
          <p:cNvPr id="7" name="Image 1" descr="preencoded.png">    </p:cNvPr>
          <p:cNvPicPr>
            <a:picLocks noChangeAspect="1"/>
          </p:cNvPicPr>
          <p:nvPr/>
        </p:nvPicPr>
        <p:blipFill>
          <a:blip r:embed="rId2"/>
          <a:stretch>
            <a:fillRect/>
          </a:stretch>
        </p:blipFill>
        <p:spPr>
          <a:xfrm>
            <a:off x="6230719" y="3320951"/>
            <a:ext cx="315635" cy="394573"/>
          </a:xfrm>
          <a:prstGeom prst="rect">
            <a:avLst/>
          </a:prstGeom>
        </p:spPr>
      </p:pic>
      <p:sp>
        <p:nvSpPr>
          <p:cNvPr id="8" name="Text 4"/>
          <p:cNvSpPr/>
          <p:nvPr/>
        </p:nvSpPr>
        <p:spPr>
          <a:xfrm>
            <a:off x="9933384" y="3219331"/>
            <a:ext cx="2482096" cy="310277"/>
          </a:xfrm>
          <a:prstGeom prst="rect">
            <a:avLst/>
          </a:prstGeom>
          <a:noFill/>
          <a:ln/>
        </p:spPr>
        <p:txBody>
          <a:bodyPr wrap="none" lIns="0" tIns="0" rIns="0" bIns="0" rtlCol="0" anchor="t"/>
          <a:lstStyle/>
          <a:p>
            <a:pPr algn="l" indent="0" marL="0">
              <a:lnSpc>
                <a:spcPts val="2400"/>
              </a:lnSpc>
              <a:buNone/>
            </a:pPr>
            <a:r>
              <a:rPr lang="en-US" sz="1950" dirty="0">
                <a:solidFill>
                  <a:srgbClr val="00002E"/>
                </a:solidFill>
                <a:latin typeface="Nunito Semi Bold" pitchFamily="34" charset="0"/>
                <a:ea typeface="Nunito Semi Bold" pitchFamily="34" charset="-122"/>
                <a:cs typeface="Nunito Semi Bold" pitchFamily="34" charset="-120"/>
              </a:rPr>
              <a:t>随机初始化</a:t>
            </a:r>
            <a:endParaRPr lang="en-US" sz="1950" dirty="0"/>
          </a:p>
        </p:txBody>
      </p:sp>
      <p:sp>
        <p:nvSpPr>
          <p:cNvPr id="9" name="Text 5"/>
          <p:cNvSpPr/>
          <p:nvPr/>
        </p:nvSpPr>
        <p:spPr>
          <a:xfrm>
            <a:off x="9933384" y="3656171"/>
            <a:ext cx="3958709" cy="337542"/>
          </a:xfrm>
          <a:prstGeom prst="rect">
            <a:avLst/>
          </a:prstGeom>
          <a:noFill/>
          <a:ln/>
        </p:spPr>
        <p:txBody>
          <a:bodyPr wrap="none" lIns="0" tIns="0" rIns="0" bIns="0" rtlCol="0" anchor="t"/>
          <a:lstStyle/>
          <a:p>
            <a:pPr algn="l" indent="0" marL="0">
              <a:lnSpc>
                <a:spcPts val="2650"/>
              </a:lnSpc>
              <a:buNone/>
            </a:pPr>
            <a:r>
              <a:rPr lang="en-US" sz="1650" dirty="0">
                <a:solidFill>
                  <a:srgbClr val="00002E"/>
                </a:solidFill>
                <a:latin typeface="PT Sans" pitchFamily="34" charset="0"/>
                <a:ea typeface="PT Sans" pitchFamily="34" charset="-122"/>
                <a:cs typeface="PT Sans" pitchFamily="34" charset="-120"/>
              </a:rPr>
              <a:t>在低维空间中随机放置数据点</a:t>
            </a:r>
            <a:endParaRPr lang="en-US" sz="1650" dirty="0"/>
          </a:p>
        </p:txBody>
      </p:sp>
      <p:pic>
        <p:nvPicPr>
          <p:cNvPr id="10" name="Image 2" descr="preencoded.png">    </p:cNvPr>
          <p:cNvPicPr>
            <a:picLocks noChangeAspect="1"/>
          </p:cNvPicPr>
          <p:nvPr/>
        </p:nvPicPr>
        <p:blipFill>
          <a:blip r:embed="rId3"/>
          <a:stretch>
            <a:fillRect/>
          </a:stretch>
        </p:blipFill>
        <p:spPr>
          <a:xfrm>
            <a:off x="5013246" y="2534722"/>
            <a:ext cx="4603790" cy="4603790"/>
          </a:xfrm>
          <a:prstGeom prst="rect">
            <a:avLst/>
          </a:prstGeom>
        </p:spPr>
      </p:pic>
      <p:pic>
        <p:nvPicPr>
          <p:cNvPr id="11" name="Image 3" descr="preencoded.png">    </p:cNvPr>
          <p:cNvPicPr>
            <a:picLocks noChangeAspect="1"/>
          </p:cNvPicPr>
          <p:nvPr/>
        </p:nvPicPr>
        <p:blipFill>
          <a:blip r:embed="rId4"/>
          <a:stretch>
            <a:fillRect/>
          </a:stretch>
        </p:blipFill>
        <p:spPr>
          <a:xfrm>
            <a:off x="8475524" y="3712666"/>
            <a:ext cx="315635" cy="394573"/>
          </a:xfrm>
          <a:prstGeom prst="rect">
            <a:avLst/>
          </a:prstGeom>
        </p:spPr>
      </p:pic>
      <p:sp>
        <p:nvSpPr>
          <p:cNvPr id="12" name="Text 6"/>
          <p:cNvSpPr/>
          <p:nvPr/>
        </p:nvSpPr>
        <p:spPr>
          <a:xfrm>
            <a:off x="9933384" y="5679400"/>
            <a:ext cx="2482096" cy="310277"/>
          </a:xfrm>
          <a:prstGeom prst="rect">
            <a:avLst/>
          </a:prstGeom>
          <a:noFill/>
          <a:ln/>
        </p:spPr>
        <p:txBody>
          <a:bodyPr wrap="none" lIns="0" tIns="0" rIns="0" bIns="0" rtlCol="0" anchor="t"/>
          <a:lstStyle/>
          <a:p>
            <a:pPr algn="l" indent="0" marL="0">
              <a:lnSpc>
                <a:spcPts val="2400"/>
              </a:lnSpc>
              <a:buNone/>
            </a:pPr>
            <a:r>
              <a:rPr lang="en-US" sz="1950" dirty="0">
                <a:solidFill>
                  <a:srgbClr val="00002E"/>
                </a:solidFill>
                <a:latin typeface="Nunito Semi Bold" pitchFamily="34" charset="0"/>
                <a:ea typeface="Nunito Semi Bold" pitchFamily="34" charset="-122"/>
                <a:cs typeface="Nunito Semi Bold" pitchFamily="34" charset="-120"/>
              </a:rPr>
              <a:t>优化分布差异</a:t>
            </a:r>
            <a:endParaRPr lang="en-US" sz="1950" dirty="0"/>
          </a:p>
        </p:txBody>
      </p:sp>
      <p:sp>
        <p:nvSpPr>
          <p:cNvPr id="13" name="Text 7"/>
          <p:cNvSpPr/>
          <p:nvPr/>
        </p:nvSpPr>
        <p:spPr>
          <a:xfrm>
            <a:off x="9933384" y="6116241"/>
            <a:ext cx="3958709" cy="337542"/>
          </a:xfrm>
          <a:prstGeom prst="rect">
            <a:avLst/>
          </a:prstGeom>
          <a:noFill/>
          <a:ln/>
        </p:spPr>
        <p:txBody>
          <a:bodyPr wrap="none" lIns="0" tIns="0" rIns="0" bIns="0" rtlCol="0" anchor="t"/>
          <a:lstStyle/>
          <a:p>
            <a:pPr algn="l" indent="0" marL="0">
              <a:lnSpc>
                <a:spcPts val="2650"/>
              </a:lnSpc>
              <a:buNone/>
            </a:pPr>
            <a:r>
              <a:rPr lang="en-US" sz="1650" dirty="0">
                <a:solidFill>
                  <a:srgbClr val="00002E"/>
                </a:solidFill>
                <a:latin typeface="PT Sans" pitchFamily="34" charset="0"/>
                <a:ea typeface="PT Sans" pitchFamily="34" charset="-122"/>
                <a:cs typeface="PT Sans" pitchFamily="34" charset="-120"/>
              </a:rPr>
              <a:t>通过梯度下降最小化KL散度</a:t>
            </a:r>
            <a:endParaRPr lang="en-US" sz="1650" dirty="0"/>
          </a:p>
        </p:txBody>
      </p:sp>
      <p:pic>
        <p:nvPicPr>
          <p:cNvPr id="14" name="Image 4" descr="preencoded.png">    </p:cNvPr>
          <p:cNvPicPr>
            <a:picLocks noChangeAspect="1"/>
          </p:cNvPicPr>
          <p:nvPr/>
        </p:nvPicPr>
        <p:blipFill>
          <a:blip r:embed="rId5"/>
          <a:stretch>
            <a:fillRect/>
          </a:stretch>
        </p:blipFill>
        <p:spPr>
          <a:xfrm>
            <a:off x="5013246" y="2534722"/>
            <a:ext cx="4603790" cy="4603790"/>
          </a:xfrm>
          <a:prstGeom prst="rect">
            <a:avLst/>
          </a:prstGeom>
        </p:spPr>
      </p:pic>
      <p:pic>
        <p:nvPicPr>
          <p:cNvPr id="15" name="Image 5" descr="preencoded.png">    </p:cNvPr>
          <p:cNvPicPr>
            <a:picLocks noChangeAspect="1"/>
          </p:cNvPicPr>
          <p:nvPr/>
        </p:nvPicPr>
        <p:blipFill>
          <a:blip r:embed="rId6"/>
          <a:stretch>
            <a:fillRect/>
          </a:stretch>
        </p:blipFill>
        <p:spPr>
          <a:xfrm>
            <a:off x="8083808" y="5957471"/>
            <a:ext cx="315635" cy="394573"/>
          </a:xfrm>
          <a:prstGeom prst="rect">
            <a:avLst/>
          </a:prstGeom>
        </p:spPr>
      </p:pic>
      <p:sp>
        <p:nvSpPr>
          <p:cNvPr id="16" name="Text 8"/>
          <p:cNvSpPr/>
          <p:nvPr/>
        </p:nvSpPr>
        <p:spPr>
          <a:xfrm>
            <a:off x="2214801" y="5679400"/>
            <a:ext cx="2482096" cy="310277"/>
          </a:xfrm>
          <a:prstGeom prst="rect">
            <a:avLst/>
          </a:prstGeom>
          <a:noFill/>
          <a:ln/>
        </p:spPr>
        <p:txBody>
          <a:bodyPr wrap="none" lIns="0" tIns="0" rIns="0" bIns="0" rtlCol="0" anchor="t"/>
          <a:lstStyle/>
          <a:p>
            <a:pPr algn="r" indent="0" marL="0">
              <a:lnSpc>
                <a:spcPts val="2400"/>
              </a:lnSpc>
              <a:buNone/>
            </a:pPr>
            <a:r>
              <a:rPr lang="en-US" sz="1950" dirty="0">
                <a:solidFill>
                  <a:srgbClr val="00002E"/>
                </a:solidFill>
                <a:latin typeface="Nunito Semi Bold" pitchFamily="34" charset="0"/>
                <a:ea typeface="Nunito Semi Bold" pitchFamily="34" charset="-122"/>
                <a:cs typeface="Nunito Semi Bold" pitchFamily="34" charset="-120"/>
              </a:rPr>
              <a:t>形成聚类结构</a:t>
            </a:r>
            <a:endParaRPr lang="en-US" sz="1950" dirty="0"/>
          </a:p>
        </p:txBody>
      </p:sp>
      <p:sp>
        <p:nvSpPr>
          <p:cNvPr id="17" name="Text 9"/>
          <p:cNvSpPr/>
          <p:nvPr/>
        </p:nvSpPr>
        <p:spPr>
          <a:xfrm>
            <a:off x="738307" y="6116241"/>
            <a:ext cx="3958590" cy="337542"/>
          </a:xfrm>
          <a:prstGeom prst="rect">
            <a:avLst/>
          </a:prstGeom>
          <a:noFill/>
          <a:ln/>
        </p:spPr>
        <p:txBody>
          <a:bodyPr wrap="none" lIns="0" tIns="0" rIns="0" bIns="0" rtlCol="0" anchor="t"/>
          <a:lstStyle/>
          <a:p>
            <a:pPr algn="r" indent="0" marL="0">
              <a:lnSpc>
                <a:spcPts val="2650"/>
              </a:lnSpc>
              <a:buNone/>
            </a:pPr>
            <a:r>
              <a:rPr lang="en-US" sz="1650" dirty="0">
                <a:solidFill>
                  <a:srgbClr val="00002E"/>
                </a:solidFill>
                <a:latin typeface="PT Sans" pitchFamily="34" charset="0"/>
                <a:ea typeface="PT Sans" pitchFamily="34" charset="-122"/>
                <a:cs typeface="PT Sans" pitchFamily="34" charset="-120"/>
              </a:rPr>
              <a:t>相似点聚集，不相似点分离</a:t>
            </a:r>
            <a:endParaRPr lang="en-US" sz="1650" dirty="0"/>
          </a:p>
        </p:txBody>
      </p:sp>
      <p:pic>
        <p:nvPicPr>
          <p:cNvPr id="18" name="Image 6" descr="preencoded.png">    </p:cNvPr>
          <p:cNvPicPr>
            <a:picLocks noChangeAspect="1"/>
          </p:cNvPicPr>
          <p:nvPr/>
        </p:nvPicPr>
        <p:blipFill>
          <a:blip r:embed="rId7"/>
          <a:stretch>
            <a:fillRect/>
          </a:stretch>
        </p:blipFill>
        <p:spPr>
          <a:xfrm>
            <a:off x="5013246" y="2534722"/>
            <a:ext cx="4603790" cy="4603790"/>
          </a:xfrm>
          <a:prstGeom prst="rect">
            <a:avLst/>
          </a:prstGeom>
        </p:spPr>
      </p:pic>
      <p:pic>
        <p:nvPicPr>
          <p:cNvPr id="19" name="Image 7" descr="preencoded.png">    </p:cNvPr>
          <p:cNvPicPr>
            <a:picLocks noChangeAspect="1"/>
          </p:cNvPicPr>
          <p:nvPr/>
        </p:nvPicPr>
        <p:blipFill>
          <a:blip r:embed="rId8"/>
          <a:stretch>
            <a:fillRect/>
          </a:stretch>
        </p:blipFill>
        <p:spPr>
          <a:xfrm>
            <a:off x="5839004" y="5565755"/>
            <a:ext cx="315635" cy="394573"/>
          </a:xfrm>
          <a:prstGeom prst="rect">
            <a:avLst/>
          </a:prstGeom>
        </p:spPr>
      </p:pic>
      <p:sp>
        <p:nvSpPr>
          <p:cNvPr id="20" name="Text 10"/>
          <p:cNvSpPr/>
          <p:nvPr/>
        </p:nvSpPr>
        <p:spPr>
          <a:xfrm>
            <a:off x="738307" y="7375803"/>
            <a:ext cx="13153787" cy="337542"/>
          </a:xfrm>
          <a:prstGeom prst="rect">
            <a:avLst/>
          </a:prstGeom>
          <a:noFill/>
          <a:ln/>
        </p:spPr>
        <p:txBody>
          <a:bodyPr wrap="none" lIns="0" tIns="0" rIns="0" bIns="0" rtlCol="0" anchor="t"/>
          <a:lstStyle/>
          <a:p>
            <a:pPr algn="l" indent="0" marL="0">
              <a:lnSpc>
                <a:spcPts val="2650"/>
              </a:lnSpc>
              <a:buNone/>
            </a:pPr>
            <a:r>
              <a:rPr lang="en-US" sz="1650" dirty="0">
                <a:solidFill>
                  <a:srgbClr val="00002E"/>
                </a:solidFill>
                <a:latin typeface="PT Sans" pitchFamily="34" charset="0"/>
                <a:ea typeface="PT Sans" pitchFamily="34" charset="-122"/>
                <a:cs typeface="PT Sans" pitchFamily="34" charset="-120"/>
              </a:rPr>
              <a:t>t-SNE的特点：强调局部结构，适合用来找出群集（clusters）；非常适合做资料可视化；但计算量大，处理大型资料集速度较慢。</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0672"/>
          </a:xfrm>
          <a:prstGeom prst="rect">
            <a:avLst/>
          </a:prstGeom>
        </p:spPr>
      </p:pic>
      <p:sp>
        <p:nvSpPr>
          <p:cNvPr id="3" name="Text 0"/>
          <p:cNvSpPr/>
          <p:nvPr/>
        </p:nvSpPr>
        <p:spPr>
          <a:xfrm>
            <a:off x="792956" y="623054"/>
            <a:ext cx="5331262" cy="666393"/>
          </a:xfrm>
          <a:prstGeom prst="rect">
            <a:avLst/>
          </a:prstGeom>
          <a:noFill/>
          <a:ln/>
        </p:spPr>
        <p:txBody>
          <a:bodyPr wrap="none" lIns="0" tIns="0" rIns="0" bIns="0" rtlCol="0" anchor="t"/>
          <a:lstStyle/>
          <a:p>
            <a:pPr algn="l" indent="0" marL="0">
              <a:lnSpc>
                <a:spcPts val="5200"/>
              </a:lnSpc>
              <a:buNone/>
            </a:pPr>
            <a:r>
              <a:rPr lang="en-US" sz="4150" dirty="0">
                <a:solidFill>
                  <a:srgbClr val="00002E"/>
                </a:solidFill>
                <a:latin typeface="Nunito Semi Bold" pitchFamily="34" charset="0"/>
                <a:ea typeface="Nunito Semi Bold" pitchFamily="34" charset="-122"/>
                <a:cs typeface="Nunito Semi Bold" pitchFamily="34" charset="-120"/>
              </a:rPr>
              <a:t>PCA vs t-SNE 比较</a:t>
            </a:r>
            <a:endParaRPr lang="en-US" sz="4150" dirty="0"/>
          </a:p>
        </p:txBody>
      </p:sp>
      <p:sp>
        <p:nvSpPr>
          <p:cNvPr id="4" name="Text 1"/>
          <p:cNvSpPr/>
          <p:nvPr/>
        </p:nvSpPr>
        <p:spPr>
          <a:xfrm>
            <a:off x="792956" y="1629251"/>
            <a:ext cx="7558088" cy="724853"/>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PCA和t-SNE是两种常用的降维方法，但它们的原理和适用场景有很大差异。理解它们的区别对于选择合适的方法至关重要。</a:t>
            </a:r>
            <a:endParaRPr lang="en-US" sz="1750" dirty="0"/>
          </a:p>
        </p:txBody>
      </p:sp>
      <p:sp>
        <p:nvSpPr>
          <p:cNvPr id="5" name="Shape 2"/>
          <p:cNvSpPr/>
          <p:nvPr/>
        </p:nvSpPr>
        <p:spPr>
          <a:xfrm>
            <a:off x="792956" y="2608898"/>
            <a:ext cx="7558088" cy="4998720"/>
          </a:xfrm>
          <a:prstGeom prst="roundRect">
            <a:avLst>
              <a:gd name="adj" fmla="val 6799"/>
            </a:avLst>
          </a:prstGeom>
          <a:noFill/>
          <a:ln w="7620">
            <a:solidFill>
              <a:srgbClr val="000000">
                <a:alpha val="8000"/>
              </a:srgbClr>
            </a:solidFill>
            <a:prstDash val="solid"/>
          </a:ln>
        </p:spPr>
      </p:sp>
      <p:sp>
        <p:nvSpPr>
          <p:cNvPr id="6" name="Shape 3"/>
          <p:cNvSpPr/>
          <p:nvPr/>
        </p:nvSpPr>
        <p:spPr>
          <a:xfrm>
            <a:off x="800576" y="2616518"/>
            <a:ext cx="7542014" cy="649367"/>
          </a:xfrm>
          <a:prstGeom prst="rect">
            <a:avLst/>
          </a:prstGeom>
          <a:solidFill>
            <a:srgbClr val="FFFFFF">
              <a:alpha val="4000"/>
            </a:srgbClr>
          </a:solidFill>
          <a:ln/>
        </p:spPr>
      </p:sp>
      <p:sp>
        <p:nvSpPr>
          <p:cNvPr id="7" name="Text 4"/>
          <p:cNvSpPr/>
          <p:nvPr/>
        </p:nvSpPr>
        <p:spPr>
          <a:xfrm>
            <a:off x="1028224" y="2759988"/>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项目</a:t>
            </a:r>
            <a:endParaRPr lang="en-US" sz="1750" dirty="0"/>
          </a:p>
        </p:txBody>
      </p:sp>
      <p:sp>
        <p:nvSpPr>
          <p:cNvPr id="8" name="Text 5"/>
          <p:cNvSpPr/>
          <p:nvPr/>
        </p:nvSpPr>
        <p:spPr>
          <a:xfrm>
            <a:off x="3545681" y="2759988"/>
            <a:ext cx="205287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PCA</a:t>
            </a:r>
            <a:endParaRPr lang="en-US" sz="1750" dirty="0"/>
          </a:p>
        </p:txBody>
      </p:sp>
      <p:sp>
        <p:nvSpPr>
          <p:cNvPr id="9" name="Text 6"/>
          <p:cNvSpPr/>
          <p:nvPr/>
        </p:nvSpPr>
        <p:spPr>
          <a:xfrm>
            <a:off x="6059329" y="2759988"/>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t-SNE</a:t>
            </a:r>
            <a:endParaRPr lang="en-US" sz="1750" dirty="0"/>
          </a:p>
        </p:txBody>
      </p:sp>
      <p:sp>
        <p:nvSpPr>
          <p:cNvPr id="10" name="Shape 7"/>
          <p:cNvSpPr/>
          <p:nvPr/>
        </p:nvSpPr>
        <p:spPr>
          <a:xfrm>
            <a:off x="800576" y="3265884"/>
            <a:ext cx="7542014" cy="649367"/>
          </a:xfrm>
          <a:prstGeom prst="rect">
            <a:avLst/>
          </a:prstGeom>
          <a:solidFill>
            <a:srgbClr val="000000">
              <a:alpha val="4000"/>
            </a:srgbClr>
          </a:solidFill>
          <a:ln/>
        </p:spPr>
      </p:sp>
      <p:sp>
        <p:nvSpPr>
          <p:cNvPr id="11" name="Text 8"/>
          <p:cNvSpPr/>
          <p:nvPr/>
        </p:nvSpPr>
        <p:spPr>
          <a:xfrm>
            <a:off x="1028224" y="3409355"/>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类型</a:t>
            </a:r>
            <a:endParaRPr lang="en-US" sz="1750" dirty="0"/>
          </a:p>
        </p:txBody>
      </p:sp>
      <p:sp>
        <p:nvSpPr>
          <p:cNvPr id="12" name="Text 9"/>
          <p:cNvSpPr/>
          <p:nvPr/>
        </p:nvSpPr>
        <p:spPr>
          <a:xfrm>
            <a:off x="3545681" y="3409355"/>
            <a:ext cx="205287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线性</a:t>
            </a:r>
            <a:endParaRPr lang="en-US" sz="1750" dirty="0"/>
          </a:p>
        </p:txBody>
      </p:sp>
      <p:sp>
        <p:nvSpPr>
          <p:cNvPr id="13" name="Text 10"/>
          <p:cNvSpPr/>
          <p:nvPr/>
        </p:nvSpPr>
        <p:spPr>
          <a:xfrm>
            <a:off x="6059329" y="3409355"/>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非线性</a:t>
            </a:r>
            <a:endParaRPr lang="en-US" sz="1750" dirty="0"/>
          </a:p>
        </p:txBody>
      </p:sp>
      <p:sp>
        <p:nvSpPr>
          <p:cNvPr id="14" name="Shape 11"/>
          <p:cNvSpPr/>
          <p:nvPr/>
        </p:nvSpPr>
        <p:spPr>
          <a:xfrm>
            <a:off x="800576" y="3915251"/>
            <a:ext cx="7542014" cy="1011793"/>
          </a:xfrm>
          <a:prstGeom prst="rect">
            <a:avLst/>
          </a:prstGeom>
          <a:solidFill>
            <a:srgbClr val="FFFFFF">
              <a:alpha val="4000"/>
            </a:srgbClr>
          </a:solidFill>
          <a:ln/>
        </p:spPr>
      </p:sp>
      <p:sp>
        <p:nvSpPr>
          <p:cNvPr id="15" name="Text 12"/>
          <p:cNvSpPr/>
          <p:nvPr/>
        </p:nvSpPr>
        <p:spPr>
          <a:xfrm>
            <a:off x="1028224" y="4058722"/>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强项</a:t>
            </a:r>
            <a:endParaRPr lang="en-US" sz="1750" dirty="0"/>
          </a:p>
        </p:txBody>
      </p:sp>
      <p:sp>
        <p:nvSpPr>
          <p:cNvPr id="16" name="Text 13"/>
          <p:cNvSpPr/>
          <p:nvPr/>
        </p:nvSpPr>
        <p:spPr>
          <a:xfrm>
            <a:off x="3545681" y="4058722"/>
            <a:ext cx="205287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保留全域结构、快速</a:t>
            </a:r>
            <a:endParaRPr lang="en-US" sz="1750" dirty="0"/>
          </a:p>
        </p:txBody>
      </p:sp>
      <p:sp>
        <p:nvSpPr>
          <p:cNvPr id="17" name="Text 14"/>
          <p:cNvSpPr/>
          <p:nvPr/>
        </p:nvSpPr>
        <p:spPr>
          <a:xfrm>
            <a:off x="6059329" y="4058722"/>
            <a:ext cx="2056686" cy="724853"/>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显示群集、强调局部关系</a:t>
            </a:r>
            <a:endParaRPr lang="en-US" sz="1750" dirty="0"/>
          </a:p>
        </p:txBody>
      </p:sp>
      <p:sp>
        <p:nvSpPr>
          <p:cNvPr id="18" name="Shape 15"/>
          <p:cNvSpPr/>
          <p:nvPr/>
        </p:nvSpPr>
        <p:spPr>
          <a:xfrm>
            <a:off x="800576" y="4927044"/>
            <a:ext cx="7542014" cy="1011793"/>
          </a:xfrm>
          <a:prstGeom prst="rect">
            <a:avLst/>
          </a:prstGeom>
          <a:solidFill>
            <a:srgbClr val="000000">
              <a:alpha val="4000"/>
            </a:srgbClr>
          </a:solidFill>
          <a:ln/>
        </p:spPr>
      </p:sp>
      <p:sp>
        <p:nvSpPr>
          <p:cNvPr id="19" name="Text 16"/>
          <p:cNvSpPr/>
          <p:nvPr/>
        </p:nvSpPr>
        <p:spPr>
          <a:xfrm>
            <a:off x="1028224" y="5070515"/>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缺点</a:t>
            </a:r>
            <a:endParaRPr lang="en-US" sz="1750" dirty="0"/>
          </a:p>
        </p:txBody>
      </p:sp>
      <p:sp>
        <p:nvSpPr>
          <p:cNvPr id="20" name="Text 17"/>
          <p:cNvSpPr/>
          <p:nvPr/>
        </p:nvSpPr>
        <p:spPr>
          <a:xfrm>
            <a:off x="3545681" y="5070515"/>
            <a:ext cx="205287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无法展现非线性结构</a:t>
            </a:r>
            <a:endParaRPr lang="en-US" sz="1750" dirty="0"/>
          </a:p>
        </p:txBody>
      </p:sp>
      <p:sp>
        <p:nvSpPr>
          <p:cNvPr id="21" name="Text 18"/>
          <p:cNvSpPr/>
          <p:nvPr/>
        </p:nvSpPr>
        <p:spPr>
          <a:xfrm>
            <a:off x="6059329" y="5070515"/>
            <a:ext cx="2056686" cy="724853"/>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计算慢，不能用来预测新资料</a:t>
            </a:r>
            <a:endParaRPr lang="en-US" sz="1750" dirty="0"/>
          </a:p>
        </p:txBody>
      </p:sp>
      <p:sp>
        <p:nvSpPr>
          <p:cNvPr id="22" name="Shape 19"/>
          <p:cNvSpPr/>
          <p:nvPr/>
        </p:nvSpPr>
        <p:spPr>
          <a:xfrm>
            <a:off x="800576" y="5938838"/>
            <a:ext cx="7542014" cy="1011793"/>
          </a:xfrm>
          <a:prstGeom prst="rect">
            <a:avLst/>
          </a:prstGeom>
          <a:solidFill>
            <a:srgbClr val="FFFFFF">
              <a:alpha val="4000"/>
            </a:srgbClr>
          </a:solidFill>
          <a:ln/>
        </p:spPr>
      </p:sp>
      <p:sp>
        <p:nvSpPr>
          <p:cNvPr id="23" name="Text 20"/>
          <p:cNvSpPr/>
          <p:nvPr/>
        </p:nvSpPr>
        <p:spPr>
          <a:xfrm>
            <a:off x="1028224" y="6082308"/>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适用场景</a:t>
            </a:r>
            <a:endParaRPr lang="en-US" sz="1750" dirty="0"/>
          </a:p>
        </p:txBody>
      </p:sp>
      <p:sp>
        <p:nvSpPr>
          <p:cNvPr id="24" name="Text 21"/>
          <p:cNvSpPr/>
          <p:nvPr/>
        </p:nvSpPr>
        <p:spPr>
          <a:xfrm>
            <a:off x="3545681" y="6082308"/>
            <a:ext cx="2052876" cy="724853"/>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初步探索、降噪、特征提取</a:t>
            </a:r>
            <a:endParaRPr lang="en-US" sz="1750" dirty="0"/>
          </a:p>
        </p:txBody>
      </p:sp>
      <p:sp>
        <p:nvSpPr>
          <p:cNvPr id="25" name="Text 22"/>
          <p:cNvSpPr/>
          <p:nvPr/>
        </p:nvSpPr>
        <p:spPr>
          <a:xfrm>
            <a:off x="6059329" y="6082308"/>
            <a:ext cx="2056686" cy="724853"/>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数据可视化、聚类分析</a:t>
            </a:r>
            <a:endParaRPr lang="en-US" sz="1750" dirty="0"/>
          </a:p>
        </p:txBody>
      </p:sp>
      <p:sp>
        <p:nvSpPr>
          <p:cNvPr id="26" name="Shape 23"/>
          <p:cNvSpPr/>
          <p:nvPr/>
        </p:nvSpPr>
        <p:spPr>
          <a:xfrm>
            <a:off x="800576" y="6950631"/>
            <a:ext cx="7542014" cy="649367"/>
          </a:xfrm>
          <a:prstGeom prst="rect">
            <a:avLst/>
          </a:prstGeom>
          <a:solidFill>
            <a:srgbClr val="000000">
              <a:alpha val="4000"/>
            </a:srgbClr>
          </a:solidFill>
          <a:ln/>
        </p:spPr>
      </p:sp>
      <p:sp>
        <p:nvSpPr>
          <p:cNvPr id="27" name="Text 24"/>
          <p:cNvSpPr/>
          <p:nvPr/>
        </p:nvSpPr>
        <p:spPr>
          <a:xfrm>
            <a:off x="1028224" y="7094101"/>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计算复杂度</a:t>
            </a:r>
            <a:endParaRPr lang="en-US" sz="1750" dirty="0"/>
          </a:p>
        </p:txBody>
      </p:sp>
      <p:sp>
        <p:nvSpPr>
          <p:cNvPr id="28" name="Text 25"/>
          <p:cNvSpPr/>
          <p:nvPr/>
        </p:nvSpPr>
        <p:spPr>
          <a:xfrm>
            <a:off x="3545681" y="7094101"/>
            <a:ext cx="205287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较低 O(d²n)</a:t>
            </a:r>
            <a:endParaRPr lang="en-US" sz="1750" dirty="0"/>
          </a:p>
        </p:txBody>
      </p:sp>
      <p:sp>
        <p:nvSpPr>
          <p:cNvPr id="29" name="Text 26"/>
          <p:cNvSpPr/>
          <p:nvPr/>
        </p:nvSpPr>
        <p:spPr>
          <a:xfrm>
            <a:off x="6059329" y="7094101"/>
            <a:ext cx="2056686" cy="362426"/>
          </a:xfrm>
          <a:prstGeom prst="rect">
            <a:avLst/>
          </a:prstGeom>
          <a:noFill/>
          <a:ln/>
        </p:spPr>
        <p:txBody>
          <a:bodyPr wrap="non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较高 O(n²)</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671" y="987862"/>
            <a:ext cx="5336024" cy="666988"/>
          </a:xfrm>
          <a:prstGeom prst="rect">
            <a:avLst/>
          </a:prstGeom>
          <a:noFill/>
          <a:ln/>
        </p:spPr>
        <p:txBody>
          <a:bodyPr wrap="none" lIns="0" tIns="0" rIns="0" bIns="0" rtlCol="0" anchor="t"/>
          <a:lstStyle/>
          <a:p>
            <a:pPr algn="l" indent="0" marL="0">
              <a:lnSpc>
                <a:spcPts val="5250"/>
              </a:lnSpc>
              <a:buNone/>
            </a:pPr>
            <a:r>
              <a:rPr lang="en-US" sz="4200" dirty="0">
                <a:solidFill>
                  <a:srgbClr val="00002E"/>
                </a:solidFill>
                <a:latin typeface="Nunito Semi Bold" pitchFamily="34" charset="0"/>
                <a:ea typeface="Nunito Semi Bold" pitchFamily="34" charset="-122"/>
                <a:cs typeface="Nunito Semi Bold" pitchFamily="34" charset="-120"/>
              </a:rPr>
              <a:t>课堂练习建议</a:t>
            </a:r>
            <a:endParaRPr lang="en-US" sz="4200" dirty="0"/>
          </a:p>
        </p:txBody>
      </p:sp>
      <p:sp>
        <p:nvSpPr>
          <p:cNvPr id="4" name="Text 1"/>
          <p:cNvSpPr/>
          <p:nvPr/>
        </p:nvSpPr>
        <p:spPr>
          <a:xfrm>
            <a:off x="793671" y="1995011"/>
            <a:ext cx="7556659" cy="725805"/>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为了加深对PCA和t-SNE的理解，建议学生进行以下实践练习，通过亲自动手来体验这些方法的特性和应用。</a:t>
            </a:r>
            <a:endParaRPr lang="en-US" sz="1750" dirty="0"/>
          </a:p>
        </p:txBody>
      </p:sp>
      <p:sp>
        <p:nvSpPr>
          <p:cNvPr id="5" name="Shape 2"/>
          <p:cNvSpPr/>
          <p:nvPr/>
        </p:nvSpPr>
        <p:spPr>
          <a:xfrm>
            <a:off x="793671" y="2975848"/>
            <a:ext cx="170021" cy="1195268"/>
          </a:xfrm>
          <a:prstGeom prst="roundRect">
            <a:avLst>
              <a:gd name="adj" fmla="val 200077"/>
            </a:avLst>
          </a:prstGeom>
          <a:solidFill>
            <a:srgbClr val="F3F3FF"/>
          </a:solidFill>
          <a:ln w="22860">
            <a:solidFill>
              <a:srgbClr val="2D4DF2"/>
            </a:solidFill>
            <a:prstDash val="solid"/>
          </a:ln>
        </p:spPr>
      </p:sp>
      <p:sp>
        <p:nvSpPr>
          <p:cNvPr id="6" name="Text 3"/>
          <p:cNvSpPr/>
          <p:nvPr/>
        </p:nvSpPr>
        <p:spPr>
          <a:xfrm>
            <a:off x="1303853" y="2975848"/>
            <a:ext cx="2667953" cy="333494"/>
          </a:xfrm>
          <a:prstGeom prst="rect">
            <a:avLst/>
          </a:prstGeom>
          <a:noFill/>
          <a:ln/>
        </p:spPr>
        <p:txBody>
          <a:bodyPr wrap="none" lIns="0" tIns="0" rIns="0" bIns="0" rtlCol="0" anchor="t"/>
          <a:lstStyle/>
          <a:p>
            <a:pPr algn="l" indent="0" marL="0">
              <a:lnSpc>
                <a:spcPts val="2600"/>
              </a:lnSpc>
              <a:buNone/>
            </a:pPr>
            <a:r>
              <a:rPr lang="en-US" sz="2100" dirty="0">
                <a:solidFill>
                  <a:srgbClr val="00002E"/>
                </a:solidFill>
                <a:latin typeface="Nunito Semi Bold" pitchFamily="34" charset="0"/>
                <a:ea typeface="Nunito Semi Bold" pitchFamily="34" charset="-122"/>
                <a:cs typeface="Nunito Semi Bold" pitchFamily="34" charset="-120"/>
              </a:rPr>
              <a:t>基础数据集实验</a:t>
            </a:r>
            <a:endParaRPr lang="en-US" sz="2100" dirty="0"/>
          </a:p>
        </p:txBody>
      </p:sp>
      <p:sp>
        <p:nvSpPr>
          <p:cNvPr id="7" name="Text 4"/>
          <p:cNvSpPr/>
          <p:nvPr/>
        </p:nvSpPr>
        <p:spPr>
          <a:xfrm>
            <a:off x="1303853" y="3445312"/>
            <a:ext cx="7046476" cy="725805"/>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尝试使用不同的数据集（如Iris、MNIST）做降维可视化，观察不同数据特性对结果的影响。比较PCA和t-SNE在相同数据上的表现差异。</a:t>
            </a:r>
            <a:endParaRPr lang="en-US" sz="1750" dirty="0"/>
          </a:p>
        </p:txBody>
      </p:sp>
      <p:sp>
        <p:nvSpPr>
          <p:cNvPr id="8" name="Shape 5"/>
          <p:cNvSpPr/>
          <p:nvPr/>
        </p:nvSpPr>
        <p:spPr>
          <a:xfrm>
            <a:off x="1133832" y="4397812"/>
            <a:ext cx="170021" cy="1195268"/>
          </a:xfrm>
          <a:prstGeom prst="roundRect">
            <a:avLst>
              <a:gd name="adj" fmla="val 200077"/>
            </a:avLst>
          </a:prstGeom>
          <a:solidFill>
            <a:srgbClr val="F3F3FF"/>
          </a:solidFill>
          <a:ln w="22860">
            <a:solidFill>
              <a:srgbClr val="018CE1"/>
            </a:solidFill>
            <a:prstDash val="solid"/>
          </a:ln>
        </p:spPr>
      </p:sp>
      <p:sp>
        <p:nvSpPr>
          <p:cNvPr id="9" name="Text 6"/>
          <p:cNvSpPr/>
          <p:nvPr/>
        </p:nvSpPr>
        <p:spPr>
          <a:xfrm>
            <a:off x="1644015" y="4397812"/>
            <a:ext cx="2667953" cy="333494"/>
          </a:xfrm>
          <a:prstGeom prst="rect">
            <a:avLst/>
          </a:prstGeom>
          <a:noFill/>
          <a:ln/>
        </p:spPr>
        <p:txBody>
          <a:bodyPr wrap="none" lIns="0" tIns="0" rIns="0" bIns="0" rtlCol="0" anchor="t"/>
          <a:lstStyle/>
          <a:p>
            <a:pPr algn="l" indent="0" marL="0">
              <a:lnSpc>
                <a:spcPts val="2600"/>
              </a:lnSpc>
              <a:buNone/>
            </a:pPr>
            <a:r>
              <a:rPr lang="en-US" sz="2100" dirty="0">
                <a:solidFill>
                  <a:srgbClr val="00002E"/>
                </a:solidFill>
                <a:latin typeface="Nunito Semi Bold" pitchFamily="34" charset="0"/>
                <a:ea typeface="Nunito Semi Bold" pitchFamily="34" charset="-122"/>
                <a:cs typeface="Nunito Semi Bold" pitchFamily="34" charset="-120"/>
              </a:rPr>
              <a:t>参数调优实验</a:t>
            </a:r>
            <a:endParaRPr lang="en-US" sz="2100" dirty="0"/>
          </a:p>
        </p:txBody>
      </p:sp>
      <p:sp>
        <p:nvSpPr>
          <p:cNvPr id="10" name="Text 7"/>
          <p:cNvSpPr/>
          <p:nvPr/>
        </p:nvSpPr>
        <p:spPr>
          <a:xfrm>
            <a:off x="1644015" y="4867275"/>
            <a:ext cx="6706314" cy="725805"/>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比较不同perplexity值对t-SNE结果的影响。尝试调整PCA的n_components参数，观察保留不同比例方差的效果。</a:t>
            </a:r>
            <a:endParaRPr lang="en-US" sz="1750" dirty="0"/>
          </a:p>
        </p:txBody>
      </p:sp>
      <p:sp>
        <p:nvSpPr>
          <p:cNvPr id="11" name="Shape 8"/>
          <p:cNvSpPr/>
          <p:nvPr/>
        </p:nvSpPr>
        <p:spPr>
          <a:xfrm>
            <a:off x="1473994" y="5819775"/>
            <a:ext cx="170021" cy="1195268"/>
          </a:xfrm>
          <a:prstGeom prst="roundRect">
            <a:avLst>
              <a:gd name="adj" fmla="val 200077"/>
            </a:avLst>
          </a:prstGeom>
          <a:solidFill>
            <a:srgbClr val="F3F3FF"/>
          </a:solidFill>
          <a:ln w="22860">
            <a:solidFill>
              <a:srgbClr val="DA33BF"/>
            </a:solidFill>
            <a:prstDash val="solid"/>
          </a:ln>
        </p:spPr>
      </p:sp>
      <p:sp>
        <p:nvSpPr>
          <p:cNvPr id="12" name="Text 9"/>
          <p:cNvSpPr/>
          <p:nvPr/>
        </p:nvSpPr>
        <p:spPr>
          <a:xfrm>
            <a:off x="1984177" y="5819775"/>
            <a:ext cx="2667953" cy="333494"/>
          </a:xfrm>
          <a:prstGeom prst="rect">
            <a:avLst/>
          </a:prstGeom>
          <a:noFill/>
          <a:ln/>
        </p:spPr>
        <p:txBody>
          <a:bodyPr wrap="none" lIns="0" tIns="0" rIns="0" bIns="0" rtlCol="0" anchor="t"/>
          <a:lstStyle/>
          <a:p>
            <a:pPr algn="l" indent="0" marL="0">
              <a:lnSpc>
                <a:spcPts val="2600"/>
              </a:lnSpc>
              <a:buNone/>
            </a:pPr>
            <a:r>
              <a:rPr lang="en-US" sz="2100" dirty="0">
                <a:solidFill>
                  <a:srgbClr val="00002E"/>
                </a:solidFill>
                <a:latin typeface="Nunito Semi Bold" pitchFamily="34" charset="0"/>
                <a:ea typeface="Nunito Semi Bold" pitchFamily="34" charset="-122"/>
                <a:cs typeface="Nunito Semi Bold" pitchFamily="34" charset="-120"/>
              </a:rPr>
              <a:t>进阶方法探索</a:t>
            </a:r>
            <a:endParaRPr lang="en-US" sz="2100" dirty="0"/>
          </a:p>
        </p:txBody>
      </p:sp>
      <p:sp>
        <p:nvSpPr>
          <p:cNvPr id="13" name="Text 10"/>
          <p:cNvSpPr/>
          <p:nvPr/>
        </p:nvSpPr>
        <p:spPr>
          <a:xfrm>
            <a:off x="1984177" y="6289238"/>
            <a:ext cx="6366153" cy="725805"/>
          </a:xfrm>
          <a:prstGeom prst="rect">
            <a:avLst/>
          </a:prstGeom>
          <a:noFill/>
          <a:ln/>
        </p:spPr>
        <p:txBody>
          <a:bodyPr wrap="square" lIns="0" tIns="0" rIns="0" bIns="0" rtlCol="0" anchor="t"/>
          <a:lstStyle/>
          <a:p>
            <a:pPr algn="l" indent="0" marL="0">
              <a:lnSpc>
                <a:spcPts val="2850"/>
              </a:lnSpc>
              <a:buNone/>
            </a:pPr>
            <a:r>
              <a:rPr lang="en-US" sz="1750" dirty="0">
                <a:solidFill>
                  <a:srgbClr val="00002E"/>
                </a:solidFill>
                <a:latin typeface="PT Sans" pitchFamily="34" charset="0"/>
                <a:ea typeface="PT Sans" pitchFamily="34" charset="-122"/>
                <a:cs typeface="PT Sans" pitchFamily="34" charset="-120"/>
              </a:rPr>
              <a:t>使用其他降维方法如UMAP做进阶学习。尝试将降维结果与监督学习方法（如分类器）结合，评估降维对模型性能的影响。</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6765" y="619482"/>
            <a:ext cx="5289590" cy="661154"/>
          </a:xfrm>
          <a:prstGeom prst="rect">
            <a:avLst/>
          </a:prstGeom>
          <a:noFill/>
          <a:ln/>
        </p:spPr>
        <p:txBody>
          <a:bodyPr wrap="none" lIns="0" tIns="0" rIns="0" bIns="0" rtlCol="0" anchor="t"/>
          <a:lstStyle/>
          <a:p>
            <a:pPr algn="l" indent="0" marL="0">
              <a:lnSpc>
                <a:spcPts val="5200"/>
              </a:lnSpc>
              <a:buNone/>
            </a:pPr>
            <a:r>
              <a:rPr lang="en-US" sz="4150" dirty="0">
                <a:solidFill>
                  <a:srgbClr val="00002E"/>
                </a:solidFill>
                <a:latin typeface="Nunito Semi Bold" pitchFamily="34" charset="0"/>
                <a:ea typeface="Nunito Semi Bold" pitchFamily="34" charset="-122"/>
                <a:cs typeface="Nunito Semi Bold" pitchFamily="34" charset="-120"/>
              </a:rPr>
              <a:t>小结</a:t>
            </a:r>
            <a:endParaRPr lang="en-US" sz="4150" dirty="0"/>
          </a:p>
        </p:txBody>
      </p:sp>
      <p:sp>
        <p:nvSpPr>
          <p:cNvPr id="3" name="Text 1"/>
          <p:cNvSpPr/>
          <p:nvPr/>
        </p:nvSpPr>
        <p:spPr>
          <a:xfrm>
            <a:off x="786765" y="1730216"/>
            <a:ext cx="13056870" cy="719138"/>
          </a:xfrm>
          <a:prstGeom prst="rect">
            <a:avLst/>
          </a:prstGeom>
          <a:noFill/>
          <a:ln/>
        </p:spPr>
        <p:txBody>
          <a:bodyPr wrap="square" lIns="0" tIns="0" rIns="0" bIns="0" rtlCol="0" anchor="t"/>
          <a:lstStyle/>
          <a:p>
            <a:pPr algn="l" indent="0" marL="0">
              <a:lnSpc>
                <a:spcPts val="2800"/>
              </a:lnSpc>
              <a:buNone/>
            </a:pPr>
            <a:r>
              <a:rPr lang="en-US" sz="1750" dirty="0">
                <a:solidFill>
                  <a:srgbClr val="00002E"/>
                </a:solidFill>
                <a:latin typeface="PT Sans" pitchFamily="34" charset="0"/>
                <a:ea typeface="PT Sans" pitchFamily="34" charset="-122"/>
                <a:cs typeface="PT Sans" pitchFamily="34" charset="-120"/>
              </a:rPr>
              <a:t>PCA与t-SNE是资料探索与可视化常用工具，各有其优势和适用场景。PCA侧重变异结构，适合快速探索和降噪；t-SNE侧重群集与邻近关系，适合复杂数据的可视化分析。</a:t>
            </a:r>
            <a:endParaRPr lang="en-US" sz="1750" dirty="0"/>
          </a:p>
        </p:txBody>
      </p:sp>
      <p:pic>
        <p:nvPicPr>
          <p:cNvPr id="4" name="Image 0" descr="preencoded.png">    </p:cNvPr>
          <p:cNvPicPr>
            <a:picLocks noChangeAspect="1"/>
          </p:cNvPicPr>
          <p:nvPr/>
        </p:nvPicPr>
        <p:blipFill>
          <a:blip r:embed="rId1"/>
          <a:stretch>
            <a:fillRect/>
          </a:stretch>
        </p:blipFill>
        <p:spPr>
          <a:xfrm>
            <a:off x="2973705" y="2702242"/>
            <a:ext cx="2154317" cy="1274445"/>
          </a:xfrm>
          <a:prstGeom prst="rect">
            <a:avLst/>
          </a:prstGeom>
        </p:spPr>
      </p:pic>
      <p:pic>
        <p:nvPicPr>
          <p:cNvPr id="5" name="Image 1" descr="preencoded.png">    </p:cNvPr>
          <p:cNvPicPr>
            <a:picLocks noChangeAspect="1"/>
          </p:cNvPicPr>
          <p:nvPr/>
        </p:nvPicPr>
        <p:blipFill>
          <a:blip r:embed="rId2"/>
          <a:stretch>
            <a:fillRect/>
          </a:stretch>
        </p:blipFill>
        <p:spPr>
          <a:xfrm>
            <a:off x="3892748" y="3299222"/>
            <a:ext cx="316111" cy="395168"/>
          </a:xfrm>
          <a:prstGeom prst="rect">
            <a:avLst/>
          </a:prstGeom>
        </p:spPr>
      </p:pic>
      <p:sp>
        <p:nvSpPr>
          <p:cNvPr id="6" name="Text 2"/>
          <p:cNvSpPr/>
          <p:nvPr/>
        </p:nvSpPr>
        <p:spPr>
          <a:xfrm>
            <a:off x="5352812" y="2927032"/>
            <a:ext cx="2472809" cy="330517"/>
          </a:xfrm>
          <a:prstGeom prst="rect">
            <a:avLst/>
          </a:prstGeom>
          <a:noFill/>
          <a:ln/>
        </p:spPr>
        <p:txBody>
          <a:bodyPr wrap="none" lIns="0" tIns="0" rIns="0" bIns="0" rtlCol="0" anchor="t"/>
          <a:lstStyle/>
          <a:p>
            <a:pPr algn="l" indent="0" marL="0">
              <a:lnSpc>
                <a:spcPts val="2600"/>
              </a:lnSpc>
              <a:buNone/>
            </a:pPr>
            <a:r>
              <a:rPr lang="en-US" sz="2050" dirty="0">
                <a:solidFill>
                  <a:srgbClr val="00002E"/>
                </a:solidFill>
                <a:latin typeface="Nunito Semi Bold" pitchFamily="34" charset="0"/>
                <a:ea typeface="Nunito Semi Bold" pitchFamily="34" charset="-122"/>
                <a:cs typeface="Nunito Semi Bold" pitchFamily="34" charset="-120"/>
              </a:rPr>
              <a:t>应用理解</a:t>
            </a:r>
            <a:endParaRPr lang="en-US" sz="2050" dirty="0"/>
          </a:p>
        </p:txBody>
      </p:sp>
      <p:sp>
        <p:nvSpPr>
          <p:cNvPr id="7" name="Text 3"/>
          <p:cNvSpPr/>
          <p:nvPr/>
        </p:nvSpPr>
        <p:spPr>
          <a:xfrm>
            <a:off x="5352812" y="3392329"/>
            <a:ext cx="2472809" cy="359569"/>
          </a:xfrm>
          <a:prstGeom prst="rect">
            <a:avLst/>
          </a:prstGeom>
          <a:noFill/>
          <a:ln/>
        </p:spPr>
        <p:txBody>
          <a:bodyPr wrap="none" lIns="0" tIns="0" rIns="0" bIns="0" rtlCol="0" anchor="t"/>
          <a:lstStyle/>
          <a:p>
            <a:pPr algn="l" indent="0" marL="0">
              <a:lnSpc>
                <a:spcPts val="2800"/>
              </a:lnSpc>
              <a:buNone/>
            </a:pPr>
            <a:r>
              <a:rPr lang="en-US" sz="1750" dirty="0">
                <a:solidFill>
                  <a:srgbClr val="00002E"/>
                </a:solidFill>
                <a:latin typeface="PT Sans" pitchFamily="34" charset="0"/>
                <a:ea typeface="PT Sans" pitchFamily="34" charset="-122"/>
                <a:cs typeface="PT Sans" pitchFamily="34" charset="-120"/>
              </a:rPr>
              <a:t>选择合适场景的降维方法</a:t>
            </a:r>
            <a:endParaRPr lang="en-US" sz="1750" dirty="0"/>
          </a:p>
        </p:txBody>
      </p:sp>
      <p:sp>
        <p:nvSpPr>
          <p:cNvPr id="8" name="Shape 4"/>
          <p:cNvSpPr/>
          <p:nvPr/>
        </p:nvSpPr>
        <p:spPr>
          <a:xfrm>
            <a:off x="5184219" y="3989546"/>
            <a:ext cx="8603218" cy="15240"/>
          </a:xfrm>
          <a:prstGeom prst="roundRect">
            <a:avLst>
              <a:gd name="adj" fmla="val 2212698"/>
            </a:avLst>
          </a:prstGeom>
          <a:solidFill>
            <a:srgbClr val="2D4DF2"/>
          </a:solidFill>
          <a:ln/>
        </p:spPr>
      </p:sp>
      <p:pic>
        <p:nvPicPr>
          <p:cNvPr id="9" name="Image 2" descr="preencoded.png">    </p:cNvPr>
          <p:cNvPicPr>
            <a:picLocks noChangeAspect="1"/>
          </p:cNvPicPr>
          <p:nvPr/>
        </p:nvPicPr>
        <p:blipFill>
          <a:blip r:embed="rId3"/>
          <a:stretch>
            <a:fillRect/>
          </a:stretch>
        </p:blipFill>
        <p:spPr>
          <a:xfrm>
            <a:off x="1896547" y="4032885"/>
            <a:ext cx="4308753" cy="1274445"/>
          </a:xfrm>
          <a:prstGeom prst="rect">
            <a:avLst/>
          </a:prstGeom>
        </p:spPr>
      </p:pic>
      <p:pic>
        <p:nvPicPr>
          <p:cNvPr id="10" name="Image 3" descr="preencoded.png">    </p:cNvPr>
          <p:cNvPicPr>
            <a:picLocks noChangeAspect="1"/>
          </p:cNvPicPr>
          <p:nvPr/>
        </p:nvPicPr>
        <p:blipFill>
          <a:blip r:embed="rId4"/>
          <a:stretch>
            <a:fillRect/>
          </a:stretch>
        </p:blipFill>
        <p:spPr>
          <a:xfrm>
            <a:off x="3892868" y="4472464"/>
            <a:ext cx="316111" cy="395168"/>
          </a:xfrm>
          <a:prstGeom prst="rect">
            <a:avLst/>
          </a:prstGeom>
        </p:spPr>
      </p:pic>
      <p:sp>
        <p:nvSpPr>
          <p:cNvPr id="11" name="Text 5"/>
          <p:cNvSpPr/>
          <p:nvPr/>
        </p:nvSpPr>
        <p:spPr>
          <a:xfrm>
            <a:off x="6430089" y="4257675"/>
            <a:ext cx="2644735" cy="330517"/>
          </a:xfrm>
          <a:prstGeom prst="rect">
            <a:avLst/>
          </a:prstGeom>
          <a:noFill/>
          <a:ln/>
        </p:spPr>
        <p:txBody>
          <a:bodyPr wrap="none" lIns="0" tIns="0" rIns="0" bIns="0" rtlCol="0" anchor="t"/>
          <a:lstStyle/>
          <a:p>
            <a:pPr algn="l" indent="0" marL="0">
              <a:lnSpc>
                <a:spcPts val="2600"/>
              </a:lnSpc>
              <a:buNone/>
            </a:pPr>
            <a:r>
              <a:rPr lang="en-US" sz="2050" dirty="0">
                <a:solidFill>
                  <a:srgbClr val="00002E"/>
                </a:solidFill>
                <a:latin typeface="Nunito Semi Bold" pitchFamily="34" charset="0"/>
                <a:ea typeface="Nunito Semi Bold" pitchFamily="34" charset="-122"/>
                <a:cs typeface="Nunito Semi Bold" pitchFamily="34" charset="-120"/>
              </a:rPr>
              <a:t>技术掌握</a:t>
            </a:r>
            <a:endParaRPr lang="en-US" sz="2050" dirty="0"/>
          </a:p>
        </p:txBody>
      </p:sp>
      <p:sp>
        <p:nvSpPr>
          <p:cNvPr id="12" name="Text 6"/>
          <p:cNvSpPr/>
          <p:nvPr/>
        </p:nvSpPr>
        <p:spPr>
          <a:xfrm>
            <a:off x="6430089" y="4722971"/>
            <a:ext cx="2922389" cy="359569"/>
          </a:xfrm>
          <a:prstGeom prst="rect">
            <a:avLst/>
          </a:prstGeom>
          <a:noFill/>
          <a:ln/>
        </p:spPr>
        <p:txBody>
          <a:bodyPr wrap="none" lIns="0" tIns="0" rIns="0" bIns="0" rtlCol="0" anchor="t"/>
          <a:lstStyle/>
          <a:p>
            <a:pPr algn="l" indent="0" marL="0">
              <a:lnSpc>
                <a:spcPts val="2800"/>
              </a:lnSpc>
              <a:buNone/>
            </a:pPr>
            <a:r>
              <a:rPr lang="en-US" sz="1750" dirty="0">
                <a:solidFill>
                  <a:srgbClr val="00002E"/>
                </a:solidFill>
                <a:latin typeface="PT Sans" pitchFamily="34" charset="0"/>
                <a:ea typeface="PT Sans" pitchFamily="34" charset="-122"/>
                <a:cs typeface="PT Sans" pitchFamily="34" charset="-120"/>
              </a:rPr>
              <a:t>熟练使用相关算法和参数调优</a:t>
            </a:r>
            <a:endParaRPr lang="en-US" sz="1750" dirty="0"/>
          </a:p>
        </p:txBody>
      </p:sp>
      <p:sp>
        <p:nvSpPr>
          <p:cNvPr id="13" name="Shape 7"/>
          <p:cNvSpPr/>
          <p:nvPr/>
        </p:nvSpPr>
        <p:spPr>
          <a:xfrm>
            <a:off x="6261497" y="5320189"/>
            <a:ext cx="7525941" cy="15240"/>
          </a:xfrm>
          <a:prstGeom prst="roundRect">
            <a:avLst>
              <a:gd name="adj" fmla="val 2212698"/>
            </a:avLst>
          </a:prstGeom>
          <a:solidFill>
            <a:srgbClr val="018CE1"/>
          </a:solidFill>
          <a:ln/>
        </p:spPr>
      </p:sp>
      <p:pic>
        <p:nvPicPr>
          <p:cNvPr id="14" name="Image 4" descr="preencoded.png">    </p:cNvPr>
          <p:cNvPicPr>
            <a:picLocks noChangeAspect="1"/>
          </p:cNvPicPr>
          <p:nvPr/>
        </p:nvPicPr>
        <p:blipFill>
          <a:blip r:embed="rId5"/>
          <a:stretch>
            <a:fillRect/>
          </a:stretch>
        </p:blipFill>
        <p:spPr>
          <a:xfrm>
            <a:off x="819388" y="5363528"/>
            <a:ext cx="6463070" cy="1274445"/>
          </a:xfrm>
          <a:prstGeom prst="rect">
            <a:avLst/>
          </a:prstGeom>
        </p:spPr>
      </p:pic>
      <p:pic>
        <p:nvPicPr>
          <p:cNvPr id="15" name="Image 5" descr="preencoded.png">    </p:cNvPr>
          <p:cNvPicPr>
            <a:picLocks noChangeAspect="1"/>
          </p:cNvPicPr>
          <p:nvPr/>
        </p:nvPicPr>
        <p:blipFill>
          <a:blip r:embed="rId6"/>
          <a:stretch>
            <a:fillRect/>
          </a:stretch>
        </p:blipFill>
        <p:spPr>
          <a:xfrm>
            <a:off x="3892748" y="5803106"/>
            <a:ext cx="316111" cy="395168"/>
          </a:xfrm>
          <a:prstGeom prst="rect">
            <a:avLst/>
          </a:prstGeom>
        </p:spPr>
      </p:pic>
      <p:sp>
        <p:nvSpPr>
          <p:cNvPr id="16" name="Text 8"/>
          <p:cNvSpPr/>
          <p:nvPr/>
        </p:nvSpPr>
        <p:spPr>
          <a:xfrm>
            <a:off x="7507248" y="5588318"/>
            <a:ext cx="2472809" cy="330517"/>
          </a:xfrm>
          <a:prstGeom prst="rect">
            <a:avLst/>
          </a:prstGeom>
          <a:noFill/>
          <a:ln/>
        </p:spPr>
        <p:txBody>
          <a:bodyPr wrap="none" lIns="0" tIns="0" rIns="0" bIns="0" rtlCol="0" anchor="t"/>
          <a:lstStyle/>
          <a:p>
            <a:pPr algn="l" indent="0" marL="0">
              <a:lnSpc>
                <a:spcPts val="2600"/>
              </a:lnSpc>
              <a:buNone/>
            </a:pPr>
            <a:r>
              <a:rPr lang="en-US" sz="2050" dirty="0">
                <a:solidFill>
                  <a:srgbClr val="00002E"/>
                </a:solidFill>
                <a:latin typeface="Nunito Semi Bold" pitchFamily="34" charset="0"/>
                <a:ea typeface="Nunito Semi Bold" pitchFamily="34" charset="-122"/>
                <a:cs typeface="Nunito Semi Bold" pitchFamily="34" charset="-120"/>
              </a:rPr>
              <a:t>原理基础</a:t>
            </a:r>
            <a:endParaRPr lang="en-US" sz="2050" dirty="0"/>
          </a:p>
        </p:txBody>
      </p:sp>
      <p:sp>
        <p:nvSpPr>
          <p:cNvPr id="17" name="Text 9"/>
          <p:cNvSpPr/>
          <p:nvPr/>
        </p:nvSpPr>
        <p:spPr>
          <a:xfrm>
            <a:off x="7507248" y="6053614"/>
            <a:ext cx="2472809" cy="359569"/>
          </a:xfrm>
          <a:prstGeom prst="rect">
            <a:avLst/>
          </a:prstGeom>
          <a:noFill/>
          <a:ln/>
        </p:spPr>
        <p:txBody>
          <a:bodyPr wrap="none" lIns="0" tIns="0" rIns="0" bIns="0" rtlCol="0" anchor="t"/>
          <a:lstStyle/>
          <a:p>
            <a:pPr algn="l" indent="0" marL="0">
              <a:lnSpc>
                <a:spcPts val="2800"/>
              </a:lnSpc>
              <a:buNone/>
            </a:pPr>
            <a:r>
              <a:rPr lang="en-US" sz="1750" dirty="0">
                <a:solidFill>
                  <a:srgbClr val="00002E"/>
                </a:solidFill>
                <a:latin typeface="PT Sans" pitchFamily="34" charset="0"/>
                <a:ea typeface="PT Sans" pitchFamily="34" charset="-122"/>
                <a:cs typeface="PT Sans" pitchFamily="34" charset="-120"/>
              </a:rPr>
              <a:t>理解数学原理和算法逻辑</a:t>
            </a:r>
            <a:endParaRPr lang="en-US" sz="1750" dirty="0"/>
          </a:p>
        </p:txBody>
      </p:sp>
      <p:sp>
        <p:nvSpPr>
          <p:cNvPr id="18" name="Text 10"/>
          <p:cNvSpPr/>
          <p:nvPr/>
        </p:nvSpPr>
        <p:spPr>
          <a:xfrm>
            <a:off x="786765" y="6890861"/>
            <a:ext cx="13056870" cy="719138"/>
          </a:xfrm>
          <a:prstGeom prst="rect">
            <a:avLst/>
          </a:prstGeom>
          <a:noFill/>
          <a:ln/>
        </p:spPr>
        <p:txBody>
          <a:bodyPr wrap="square" lIns="0" tIns="0" rIns="0" bIns="0" rtlCol="0" anchor="t"/>
          <a:lstStyle/>
          <a:p>
            <a:pPr algn="l" indent="0" marL="0">
              <a:lnSpc>
                <a:spcPts val="2800"/>
              </a:lnSpc>
              <a:buNone/>
            </a:pPr>
            <a:r>
              <a:rPr lang="en-US" sz="1750" dirty="0">
                <a:solidFill>
                  <a:srgbClr val="00002E"/>
                </a:solidFill>
                <a:latin typeface="PT Sans" pitchFamily="34" charset="0"/>
                <a:ea typeface="PT Sans" pitchFamily="34" charset="-122"/>
                <a:cs typeface="PT Sans" pitchFamily="34" charset="-120"/>
              </a:rPr>
              <a:t>理解这些方法的原理与使用场景，有助于日后进行资料分析与机器学习任务。在实际应用中，可以根据数据特性和分析目的，选择合适的降维方法，甚至将多种方法结合使用，以获得最佳的分析效果。</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2025-04-07T14:05:02Z</dcterms:created>
  <dcterms:modified xsi:type="dcterms:W3CDTF">2025-04-07T14:05:02Z</dcterms:modified>
</cp:coreProperties>
</file>